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theme" Target="theme/theme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srgbClr val="9AA5B8"/>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Audit proposal: What proportion of adults at high risk from sepsis (NEWS2 7 or more with suspected infection) receive IV antibiotics within 1 hour of their first ED NEWS2 score?</a:t>
            </a:r>
          </a:p>
          <a:p>
            <a:r>
              <a:rPr lang="en-GB" dirty="0"/>
              <a:t>Question: What proportion of adults at high risk from sepsis (NEWS2 7 or more with suspected infection) receive IV antibiotics within 1 hour of their first ED NEWS2 score?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NG253 (2025, updated 2026) fixes time zero as the first ED NEWS2 score. Library sepsis audits used older bundles and screening tools [3007][2618]; none measures the 1-hour limit from the NEWS2 time stamp.</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Standard: Give people aged 16 or over who are at high risk of severe illness or death from sepsis broad-spectrum intravenous antibiotic treatment, within 1 hour of calculating the person's NEWS2 score on initial assessment in the emergency department or on ward deterioration. Only give antibiotics if they have not been given before for this episode of sepsis (see recommendations 1.7.7 and 1.7.8 on managing the condition while awaiting transfer).</a:t>
            </a:r>
          </a:p>
          <a:p>
            <a:r>
              <a:rPr lang="en-GB" dirty="0"/>
              <a:t>Source: NICE NG253 rec 1.8.3 (November 2025, updated September 2026)</a:t>
            </a:r>
          </a:p>
          <a:p>
            <a:r>
              <a:rPr lang="en-GB" dirty="0"/>
              <a:t>Link: https://www.nice.org.uk/guidance/ng253/chapter/Managing-suspected-sepsis</a:t>
            </a:r>
          </a:p>
          <a:p>
            <a:r>
              <a:rPr lang="en-GB" dirty="0"/>
              <a:t>Target: ≥90%</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Population: Adults 16 or over with suspected or confirmed infection and a first ED NEWS2 of 7 or more. Exclude end-of-life care plans and patients who left before treatment.</a:t>
            </a:r>
          </a:p>
          <a:p>
            <a:r>
              <a:rPr lang="en-GB" dirty="0"/>
              <a:t>Sample: 40 consecutive eligible ED attendances over the last 2 months.</a:t>
            </a:r>
          </a:p>
          <a:p>
            <a:r>
              <a:rPr lang="en-GB" dirty="0"/>
              <a:t>Data source: ED system or e-observations for first NEWS2 time; EPMA or drug chart for antibiotic administration time; ambulance record for pre-hospital antibiotics.</a:t>
            </a:r>
          </a:p>
          <a:p>
            <a:r>
              <a:rPr lang="en-GB" dirty="0"/>
              <a:t>Pass: First IV antibiotic dose recorded as given on the drug chart within 60 minutes of the first ED NEWS2 time; or pre-hospital antibiotics already given for this episode.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Columns: Hospital number pseudonymised (P001); Arrival datetime (dd/mm/yyyy hh:mm); First ed news2 datetime (dd/mm/yyyy hh:mm); First ed news2 score (123); Prehospital antibiotic given (yes / no); Antibiotic administered datetime (dd/mm/yyyy hh:mm); Minutes news2 to antibiotic (123); Antibiotic within 60 min (yes / no); Reason for delay (no delay / not recognised as sepsis / no IV access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Timeline: Wk 1–2 collect; Wk 3 analyse/present; Wk 4 change; Wk 5–12 embed; Wk 13–14 re-audit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Change: Build an automatic ED alert on the e-observations system: a NEWS2 of 7 or more with an 'infection suspected' tick opens a sepsis order set with a pre-filled antibiotic and a 60-minute countdown on the tracking board.</a:t>
            </a:r>
          </a:p>
          <a:p>
            <a:r>
              <a:rPr lang="en-GB" dirty="0"/>
              <a:t>Re-audit: Weeks 13–14: next 40 consecutive eligible attendances, same template.</a:t>
            </a:r>
          </a:p>
          <a:p>
            <a:r>
              <a:rPr lang="en-GB" dirty="0"/>
              <a:t>Closing the loop: Present at ED governance and the Trust deteriorating patient group. If it works, keep the alert in the e-observations build and report monthly to the sepsis lead.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Ask: Agree the standard, target and sample; Supervise the audit and sign off the protocol; Help register it with the clinical audit department.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solidFill>
            <a:schemeClr val="tx1"/>
          </a:solidFill>
          <a:latin typeface="+mn-lt"/>
        </a:defRPr>
      </a:lvl1pPr>
    </p:titleStyle>
    <p:bodyStyle>
      <a:lvl1pPr>
        <a:defRPr sz="1800">
          <a:solidFill>
            <a:schemeClr val="tx1"/>
          </a:solidFill>
          <a:latin typeface="+mn-lt"/>
        </a:defRPr>
      </a:lvl1pPr>
    </p:bodyStyle>
    <p:otherStyle>
      <a:lvl1pPr>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 2"/>
          <p:cNvSpPr txBox="1"/>
          <p:nvPr/>
        </p:nvSpPr>
        <p:spPr>
          <a:xfrm>
            <a:off x="822960" y="1417320"/>
            <a:ext cx="54864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300" dirty="0">
                <a:solidFill>
                  <a:srgbClr val="B8924A"/>
                </a:solidFill>
                <a:latin typeface="Calibri"/>
                <a:cs typeface="Calibri"/>
              </a:rPr>
              <a:t>AUDIT PROPOSAL</a:t>
            </a:r>
            <a:endParaRPr lang="en-GB" sz="1100" dirty="0"/>
          </a:p>
        </p:txBody>
      </p:sp>
      <p:sp>
        <p:nvSpPr>
          <p:cNvPr id="3" name="Text 3"/>
          <p:cNvSpPr txBox="1"/>
          <p:nvPr/>
        </p:nvSpPr>
        <p:spPr>
          <a:xfrm>
            <a:off x="822960" y="1828800"/>
            <a:ext cx="9509760" cy="2377440"/>
          </a:xfrm>
          <a:prstGeom prst="rect">
            <a:avLst/>
          </a:prstGeom>
          <a:noFill/>
          <a:ln>
            <a:noFill/>
          </a:ln>
        </p:spPr>
        <p:txBody>
          <a:bodyPr wrap="square" lIns="0" tIns="0" rIns="0" bIns="0" anchor="t" rtlCol="0">
            <a:noAutofit/>
          </a:bodyPr>
          <a:lstStyle/>
          <a:p>
            <a:pPr algn="l" marL="0" indent="0">
              <a:lnSpc>
                <a:spcPct val="95000"/>
              </a:lnSpc>
              <a:spcBef>
                <a:spcPts val="0"/>
              </a:spcBef>
              <a:spcAft>
                <a:spcPts val="0"/>
              </a:spcAft>
              <a:buNone/>
            </a:pPr>
            <a:r>
              <a:rPr lang="en-GB" sz="3000" b="0" dirty="0">
                <a:solidFill>
                  <a:srgbClr val="FFFFFF"/>
                </a:solidFill>
                <a:latin typeface="Georgia"/>
                <a:cs typeface="Georgia"/>
              </a:rPr>
              <a:t>What proportion of adults at high risk from sepsis (NEWS2 7 or more with suspected infection) receive IV antibiotics within 1 hour of their first ED NEWS2 score?</a:t>
            </a:r>
            <a:endParaRPr lang="en-GB" sz="3000" dirty="0"/>
          </a:p>
        </p:txBody>
      </p:sp>
      <p:sp>
        <p:nvSpPr>
          <p:cNvPr id="4" name="Text 4"/>
          <p:cNvSpPr txBox="1"/>
          <p:nvPr/>
        </p:nvSpPr>
        <p:spPr>
          <a:xfrm>
            <a:off x="822960" y="4434840"/>
            <a:ext cx="9509760" cy="41148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600" b="0" dirty="0">
                <a:solidFill>
                  <a:srgbClr val="9AA5B8"/>
                </a:solidFill>
                <a:latin typeface="Calibri"/>
                <a:cs typeface="Calibri"/>
              </a:rPr>
              <a:t>Alex Morgan, ST4 Emergency Medicine  ·  Emergency Department  ·  Riverside General Hospital</a:t>
            </a:r>
            <a:endParaRPr lang="en-GB" sz="1600" dirty="0"/>
          </a:p>
        </p:txBody>
      </p:sp>
      <p:sp>
        <p:nvSpPr>
          <p:cNvPr id="5" name="Text 5"/>
          <p:cNvSpPr txBox="1"/>
          <p:nvPr/>
        </p:nvSpPr>
        <p:spPr>
          <a:xfrm>
            <a:off x="822960" y="4846320"/>
            <a:ext cx="7315200" cy="32004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200" b="0" dirty="0">
                <a:solidFill>
                  <a:srgbClr val="9AA5B8"/>
                </a:solidFill>
                <a:latin typeface="Calibri"/>
                <a:cs typeface="Calibri"/>
              </a:rPr>
              <a:t>For Dr Priya Shah  ·  29 Sep 2026</a:t>
            </a:r>
            <a:endParaRPr lang="en-GB" sz="1200" dirty="0"/>
          </a:p>
        </p:txBody>
      </p:sp>
      <p:pic>
        <p:nvPicPr>
          <p:cNvPr id="6" name="Logo" descr="Ai4Qi logo"/>
          <p:cNvPicPr>
            <a:picLocks noChangeAspect="1"/>
          </p:cNvPicPr>
          <p:nvPr/>
        </p:nvPicPr>
        <p:blipFill>
          <a:blip r:embed="rId2"/>
          <a:stretch>
            <a:fillRect/>
          </a:stretch>
        </p:blipFill>
        <p:spPr>
          <a:xfrm>
            <a:off x="822960" y="5806440"/>
            <a:ext cx="384048" cy="384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2</a:t>
            </a:r>
            <a:endParaRPr lang="en-GB" sz="1000" dirty="0"/>
          </a:p>
        </p:txBody>
      </p:sp>
      <p:sp>
        <p:nvSpPr>
          <p:cNvPr id="3" name="Text 3"/>
          <p:cNvSpPr txBox="1"/>
          <p:nvPr/>
        </p:nvSpPr>
        <p:spPr>
          <a:xfrm>
            <a:off x="822960" y="685800"/>
            <a:ext cx="82296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WHY THIS AUDIT</a:t>
            </a:r>
            <a:endParaRPr lang="en-GB" sz="1100" dirty="0"/>
          </a:p>
        </p:txBody>
      </p:sp>
      <p:sp>
        <p:nvSpPr>
          <p:cNvPr id="4" name="Text 4"/>
          <p:cNvSpPr txBox="1"/>
          <p:nvPr/>
        </p:nvSpPr>
        <p:spPr>
          <a:xfrm>
            <a:off x="822960" y="1371600"/>
            <a:ext cx="8778240" cy="3291840"/>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3200" b="0" dirty="0">
                <a:solidFill>
                  <a:srgbClr val="0B1F3A"/>
                </a:solidFill>
                <a:latin typeface="Georgia"/>
                <a:cs typeface="Georgia"/>
              </a:rPr>
              <a:t>NG253 (2025, updated 2026) fixes time zero as the first ED NEWS2 score.</a:t>
            </a:r>
            <a:endParaRPr lang="en-GB" sz="3200" dirty="0"/>
          </a:p>
        </p:txBody>
      </p:sp>
      <p:sp>
        <p:nvSpPr>
          <p:cNvPr id="5" name="Text 5"/>
          <p:cNvSpPr txBox="1"/>
          <p:nvPr/>
        </p:nvSpPr>
        <p:spPr>
          <a:xfrm>
            <a:off x="822960" y="5074920"/>
            <a:ext cx="2743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dirty="0">
                <a:solidFill>
                  <a:srgbClr val="B8924A"/>
                </a:solidFill>
                <a:latin typeface="Calibri"/>
                <a:cs typeface="Calibri"/>
              </a:rPr>
              <a:t>The question</a:t>
            </a:r>
            <a:endParaRPr lang="en-GB" sz="1100" dirty="0"/>
          </a:p>
        </p:txBody>
      </p:sp>
      <p:sp>
        <p:nvSpPr>
          <p:cNvPr id="6" name="Text 6"/>
          <p:cNvSpPr txBox="1"/>
          <p:nvPr/>
        </p:nvSpPr>
        <p:spPr>
          <a:xfrm>
            <a:off x="822960" y="5349240"/>
            <a:ext cx="8778240" cy="68580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400" b="0" dirty="0">
                <a:solidFill>
                  <a:srgbClr val="44506A"/>
                </a:solidFill>
                <a:latin typeface="Calibri"/>
                <a:cs typeface="Calibri"/>
              </a:rPr>
              <a:t>What proportion of adults at high risk from sepsis (NEWS2 7 or more with suspected infection) receive IV antibiotics within 1 hour of their first ED NEWS2 score?</a:t>
            </a:r>
            <a:endParaRPr lang="en-GB"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3</a:t>
            </a:r>
            <a:endParaRPr lang="en-GB" sz="1000" dirty="0"/>
          </a:p>
        </p:txBody>
      </p:sp>
      <p:sp>
        <p:nvSpPr>
          <p:cNvPr id="3" name="Text 3"/>
          <p:cNvSpPr txBox="1"/>
          <p:nvPr/>
        </p:nvSpPr>
        <p:spPr>
          <a:xfrm>
            <a:off x="822960" y="685800"/>
            <a:ext cx="82296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THE STANDARD</a:t>
            </a:r>
            <a:endParaRPr lang="en-GB" sz="1100" dirty="0"/>
          </a:p>
        </p:txBody>
      </p:sp>
      <p:cxnSp>
        <p:nvCxnSpPr>
          <p:cNvPr id="4" name="Line 4"/>
          <p:cNvCxnSpPr/>
          <p:nvPr/>
        </p:nvCxnSpPr>
        <p:spPr>
          <a:xfrm>
            <a:off x="822960" y="1463040"/>
            <a:ext cx="0" cy="3017520"/>
          </a:xfrm>
          <a:prstGeom prst="line">
            <a:avLst/>
          </a:prstGeom>
          <a:ln w="15875" cap="rnd">
            <a:solidFill>
              <a:srgbClr val="B8924A"/>
            </a:solidFill>
          </a:ln>
        </p:spPr>
      </p:cxnSp>
      <p:sp>
        <p:nvSpPr>
          <p:cNvPr id="5" name="Text 5"/>
          <p:cNvSpPr txBox="1"/>
          <p:nvPr/>
        </p:nvSpPr>
        <p:spPr>
          <a:xfrm>
            <a:off x="1188720" y="1371600"/>
            <a:ext cx="7315200" cy="3200400"/>
          </a:xfrm>
          <a:prstGeom prst="rect">
            <a:avLst/>
          </a:prstGeom>
          <a:noFill/>
          <a:ln>
            <a:noFill/>
          </a:ln>
        </p:spPr>
        <p:txBody>
          <a:bodyPr wrap="square" lIns="0" tIns="0" rIns="0" bIns="0" anchor="ctr" rtlCol="0">
            <a:noAutofit/>
          </a:bodyPr>
          <a:lstStyle/>
          <a:p>
            <a:pPr algn="l" marL="0" indent="0">
              <a:lnSpc>
                <a:spcPct val="102000"/>
              </a:lnSpc>
              <a:spcBef>
                <a:spcPts val="0"/>
              </a:spcBef>
              <a:spcAft>
                <a:spcPts val="0"/>
              </a:spcAft>
              <a:buNone/>
            </a:pPr>
            <a:r>
              <a:rPr lang="en-GB" sz="2600" b="0" i="1" dirty="0">
                <a:solidFill>
                  <a:srgbClr val="0B1F3A"/>
                </a:solidFill>
                <a:latin typeface="Georgia"/>
                <a:cs typeface="Georgia"/>
              </a:rPr>
              <a:t>“Give people aged 16 or over who are at high risk of severe illness or death from sepsis broad-spectrum intravenous antibiotic treatment, within 1 hour of calculating the person's NEWS2 score on initial assessment in the emergency department or on…”</a:t>
            </a:r>
            <a:endParaRPr lang="en-GB" sz="2600" dirty="0"/>
          </a:p>
        </p:txBody>
      </p:sp>
      <p:sp>
        <p:nvSpPr>
          <p:cNvPr id="6" name="Text 6"/>
          <p:cNvSpPr txBox="1"/>
          <p:nvPr/>
        </p:nvSpPr>
        <p:spPr>
          <a:xfrm>
            <a:off x="1188720" y="4846320"/>
            <a:ext cx="7315200" cy="54864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200" b="0" dirty="0">
                <a:solidFill>
                  <a:srgbClr val="44506A"/>
                </a:solidFill>
                <a:latin typeface="Calibri"/>
                <a:cs typeface="Calibri"/>
              </a:rPr>
              <a:t>NICE NG253 rec 1.8.3 (November 2025, updated September 2026)</a:t>
            </a:r>
            <a:endParaRPr lang="en-GB" sz="1200" dirty="0"/>
          </a:p>
        </p:txBody>
      </p:sp>
      <p:sp>
        <p:nvSpPr>
          <p:cNvPr id="7" name="Text 7"/>
          <p:cNvSpPr txBox="1"/>
          <p:nvPr/>
        </p:nvSpPr>
        <p:spPr>
          <a:xfrm>
            <a:off x="1188720" y="5440680"/>
            <a:ext cx="7315200" cy="68580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700" b="0" dirty="0">
                <a:solidFill>
                  <a:srgbClr val="9AA5B8"/>
                </a:solidFill>
                <a:latin typeface="Calibri"/>
                <a:cs typeface="Calibri"/>
              </a:rPr>
              <a:t>© NICE 2026 NG253 rec 1.8.3 (November 2025, updated September 2026). Available from https://www.nice.org.uk/guidance/ng253/chapter/Managing-suspected-sepsis. All rights reserved. Subject to Notice of rights. NICE guidance is prepared for the National Health Service in England. All NICE guidance is subject to regular review and may be updated or withdrawn. NICE accepts no responsibility for the use of its content in this product.</a:t>
            </a:r>
            <a:endParaRPr lang="en-GB" sz="700" dirty="0"/>
          </a:p>
        </p:txBody>
      </p:sp>
      <p:sp>
        <p:nvSpPr>
          <p:cNvPr id="8" name="Text 8"/>
          <p:cNvSpPr txBox="1"/>
          <p:nvPr/>
        </p:nvSpPr>
        <p:spPr>
          <a:xfrm>
            <a:off x="8961120" y="1874520"/>
            <a:ext cx="2407615"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Target</a:t>
            </a:r>
            <a:endParaRPr lang="en-GB" sz="1100" dirty="0"/>
          </a:p>
        </p:txBody>
      </p:sp>
      <p:sp>
        <p:nvSpPr>
          <p:cNvPr id="9" name="Text 9"/>
          <p:cNvSpPr txBox="1"/>
          <p:nvPr/>
        </p:nvSpPr>
        <p:spPr>
          <a:xfrm>
            <a:off x="8961120" y="2148840"/>
            <a:ext cx="2407615" cy="11887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7200" b="0" dirty="0">
                <a:solidFill>
                  <a:srgbClr val="B8924A"/>
                </a:solidFill>
                <a:latin typeface="Georgia"/>
                <a:cs typeface="Georgia"/>
              </a:rPr>
              <a:t>90%</a:t>
            </a:r>
            <a:endParaRPr lang="en-GB" sz="7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4</a:t>
            </a:r>
            <a:endParaRPr lang="en-GB" sz="1000" dirty="0"/>
          </a:p>
        </p:txBody>
      </p:sp>
      <p:sp>
        <p:nvSpPr>
          <p:cNvPr id="3" name="Text 3"/>
          <p:cNvSpPr txBox="1"/>
          <p:nvPr/>
        </p:nvSpPr>
        <p:spPr>
          <a:xfrm>
            <a:off x="822960" y="640080"/>
            <a:ext cx="10545775" cy="914400"/>
          </a:xfrm>
          <a:prstGeom prst="rect">
            <a:avLst/>
          </a:prstGeom>
          <a:noFill/>
          <a:ln>
            <a:noFill/>
          </a:ln>
        </p:spPr>
        <p:txBody>
          <a:bodyPr wrap="square" lIns="0" tIns="0" rIns="0" bIns="0" anchor="t" rtlCol="0">
            <a:noAutofit/>
          </a:bodyPr>
          <a:lstStyle/>
          <a:p>
            <a:pPr algn="l" marL="0" indent="0">
              <a:lnSpc>
                <a:spcPct val="95000"/>
              </a:lnSpc>
              <a:spcBef>
                <a:spcPts val="0"/>
              </a:spcBef>
              <a:spcAft>
                <a:spcPts val="0"/>
              </a:spcAft>
              <a:buNone/>
            </a:pPr>
            <a:r>
              <a:rPr lang="en-GB" sz="3200" b="0" dirty="0">
                <a:solidFill>
                  <a:srgbClr val="0B1F3A"/>
                </a:solidFill>
                <a:latin typeface="Georgia"/>
                <a:cs typeface="Georgia"/>
              </a:rPr>
              <a:t>How we will measure it</a:t>
            </a:r>
            <a:endParaRPr lang="en-GB" sz="3200" dirty="0"/>
          </a:p>
        </p:txBody>
      </p:sp>
      <p:cxnSp>
        <p:nvCxnSpPr>
          <p:cNvPr id="4" name="Line 4"/>
          <p:cNvCxnSpPr/>
          <p:nvPr/>
        </p:nvCxnSpPr>
        <p:spPr>
          <a:xfrm>
            <a:off x="822960" y="1783080"/>
            <a:ext cx="10545775" cy="0"/>
          </a:xfrm>
          <a:prstGeom prst="line">
            <a:avLst/>
          </a:prstGeom>
          <a:ln w="9525" cap="rnd">
            <a:solidFill>
              <a:srgbClr val="E4E6EB"/>
            </a:solidFill>
          </a:ln>
        </p:spPr>
      </p:cxnSp>
      <p:cxnSp>
        <p:nvCxnSpPr>
          <p:cNvPr id="5" name="Line 5"/>
          <p:cNvCxnSpPr/>
          <p:nvPr/>
        </p:nvCxnSpPr>
        <p:spPr>
          <a:xfrm>
            <a:off x="822960" y="3794760"/>
            <a:ext cx="10545775" cy="0"/>
          </a:xfrm>
          <a:prstGeom prst="line">
            <a:avLst/>
          </a:prstGeom>
          <a:ln w="9525" cap="rnd">
            <a:solidFill>
              <a:srgbClr val="E4E6EB"/>
            </a:solidFill>
          </a:ln>
        </p:spPr>
      </p:cxnSp>
      <p:sp>
        <p:nvSpPr>
          <p:cNvPr id="6" name="Text 6"/>
          <p:cNvSpPr txBox="1"/>
          <p:nvPr/>
        </p:nvSpPr>
        <p:spPr>
          <a:xfrm>
            <a:off x="822960" y="1965960"/>
            <a:ext cx="5044288"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WHO</a:t>
            </a:r>
            <a:endParaRPr lang="en-GB" sz="1100" dirty="0"/>
          </a:p>
        </p:txBody>
      </p:sp>
      <p:sp>
        <p:nvSpPr>
          <p:cNvPr id="7" name="Text 7"/>
          <p:cNvSpPr txBox="1"/>
          <p:nvPr/>
        </p:nvSpPr>
        <p:spPr>
          <a:xfrm>
            <a:off x="822960" y="2331720"/>
            <a:ext cx="4769968" cy="1280160"/>
          </a:xfrm>
          <a:prstGeom prst="rect">
            <a:avLst/>
          </a:prstGeom>
          <a:noFill/>
          <a:ln>
            <a:noFill/>
          </a:ln>
        </p:spPr>
        <p:txBody>
          <a:bodyPr wrap="square" lIns="0" tIns="0" rIns="0" bIns="0" anchor="t" rtlCol="0">
            <a:noAutofit/>
          </a:bodyPr>
          <a:lstStyle/>
          <a:p>
            <a:pPr algn="l" marL="0" indent="0">
              <a:lnSpc>
                <a:spcPct val="105000"/>
              </a:lnSpc>
              <a:spcBef>
                <a:spcPts val="0"/>
              </a:spcBef>
              <a:spcAft>
                <a:spcPts val="0"/>
              </a:spcAft>
              <a:buNone/>
            </a:pPr>
            <a:r>
              <a:rPr lang="en-GB" sz="2000" b="0" dirty="0">
                <a:solidFill>
                  <a:srgbClr val="0B1F3A"/>
                </a:solidFill>
                <a:latin typeface="Calibri"/>
                <a:cs typeface="Calibri"/>
              </a:rPr>
              <a:t>Adults 16 or over with suspected or confirmed infection and a first ED NEWS2 of 7…</a:t>
            </a:r>
            <a:endParaRPr lang="en-GB" sz="2000" dirty="0"/>
          </a:p>
        </p:txBody>
      </p:sp>
      <p:sp>
        <p:nvSpPr>
          <p:cNvPr id="8" name="Text 8"/>
          <p:cNvSpPr txBox="1"/>
          <p:nvPr/>
        </p:nvSpPr>
        <p:spPr>
          <a:xfrm>
            <a:off x="6324448" y="1965960"/>
            <a:ext cx="5044288"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HOW MANY</a:t>
            </a:r>
            <a:endParaRPr lang="en-GB" sz="1100" dirty="0"/>
          </a:p>
        </p:txBody>
      </p:sp>
      <p:sp>
        <p:nvSpPr>
          <p:cNvPr id="9" name="Text 9"/>
          <p:cNvSpPr txBox="1"/>
          <p:nvPr/>
        </p:nvSpPr>
        <p:spPr>
          <a:xfrm>
            <a:off x="6324448" y="2331720"/>
            <a:ext cx="4769968" cy="1280160"/>
          </a:xfrm>
          <a:prstGeom prst="rect">
            <a:avLst/>
          </a:prstGeom>
          <a:noFill/>
          <a:ln>
            <a:noFill/>
          </a:ln>
        </p:spPr>
        <p:txBody>
          <a:bodyPr wrap="square" lIns="0" tIns="0" rIns="0" bIns="0" anchor="t" rtlCol="0">
            <a:noAutofit/>
          </a:bodyPr>
          <a:lstStyle/>
          <a:p>
            <a:pPr algn="l" marL="0" indent="0">
              <a:lnSpc>
                <a:spcPct val="105000"/>
              </a:lnSpc>
              <a:spcBef>
                <a:spcPts val="0"/>
              </a:spcBef>
              <a:spcAft>
                <a:spcPts val="0"/>
              </a:spcAft>
              <a:buNone/>
            </a:pPr>
            <a:r>
              <a:rPr lang="en-GB" sz="2000" b="0" dirty="0">
                <a:solidFill>
                  <a:srgbClr val="0B1F3A"/>
                </a:solidFill>
                <a:latin typeface="Calibri"/>
                <a:cs typeface="Calibri"/>
              </a:rPr>
              <a:t>40 consecutive eligible ED attendances over the last 2 months.</a:t>
            </a:r>
            <a:endParaRPr lang="en-GB" sz="2000" dirty="0"/>
          </a:p>
        </p:txBody>
      </p:sp>
      <p:sp>
        <p:nvSpPr>
          <p:cNvPr id="10" name="Text 10"/>
          <p:cNvSpPr txBox="1"/>
          <p:nvPr/>
        </p:nvSpPr>
        <p:spPr>
          <a:xfrm>
            <a:off x="822960" y="3977640"/>
            <a:ext cx="5044288"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WHERE FROM</a:t>
            </a:r>
            <a:endParaRPr lang="en-GB" sz="1100" dirty="0"/>
          </a:p>
        </p:txBody>
      </p:sp>
      <p:sp>
        <p:nvSpPr>
          <p:cNvPr id="11" name="Text 11"/>
          <p:cNvSpPr txBox="1"/>
          <p:nvPr/>
        </p:nvSpPr>
        <p:spPr>
          <a:xfrm>
            <a:off x="822960" y="4343400"/>
            <a:ext cx="4769968" cy="1280160"/>
          </a:xfrm>
          <a:prstGeom prst="rect">
            <a:avLst/>
          </a:prstGeom>
          <a:noFill/>
          <a:ln>
            <a:noFill/>
          </a:ln>
        </p:spPr>
        <p:txBody>
          <a:bodyPr wrap="square" lIns="0" tIns="0" rIns="0" bIns="0" anchor="t" rtlCol="0">
            <a:noAutofit/>
          </a:bodyPr>
          <a:lstStyle/>
          <a:p>
            <a:pPr algn="l" marL="0" indent="0">
              <a:lnSpc>
                <a:spcPct val="105000"/>
              </a:lnSpc>
              <a:spcBef>
                <a:spcPts val="0"/>
              </a:spcBef>
              <a:spcAft>
                <a:spcPts val="0"/>
              </a:spcAft>
              <a:buNone/>
            </a:pPr>
            <a:r>
              <a:rPr lang="en-GB" sz="2000" b="0" dirty="0">
                <a:solidFill>
                  <a:srgbClr val="0B1F3A"/>
                </a:solidFill>
                <a:latin typeface="Calibri"/>
                <a:cs typeface="Calibri"/>
              </a:rPr>
              <a:t>ED system or e-observations for first NEWS2 time; EPMA or drug chart for antibiotic administration time…</a:t>
            </a:r>
            <a:endParaRPr lang="en-GB" sz="2000" dirty="0"/>
          </a:p>
        </p:txBody>
      </p:sp>
      <p:sp>
        <p:nvSpPr>
          <p:cNvPr id="12" name="Text 12"/>
          <p:cNvSpPr txBox="1"/>
          <p:nvPr/>
        </p:nvSpPr>
        <p:spPr>
          <a:xfrm>
            <a:off x="6324448" y="3977640"/>
            <a:ext cx="5044288"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WHAT COUNTS AS A PASS</a:t>
            </a:r>
            <a:endParaRPr lang="en-GB" sz="1100" dirty="0"/>
          </a:p>
        </p:txBody>
      </p:sp>
      <p:sp>
        <p:nvSpPr>
          <p:cNvPr id="13" name="Text 13"/>
          <p:cNvSpPr txBox="1"/>
          <p:nvPr/>
        </p:nvSpPr>
        <p:spPr>
          <a:xfrm>
            <a:off x="6324448" y="4343400"/>
            <a:ext cx="4769968" cy="1280160"/>
          </a:xfrm>
          <a:prstGeom prst="rect">
            <a:avLst/>
          </a:prstGeom>
          <a:noFill/>
          <a:ln>
            <a:noFill/>
          </a:ln>
        </p:spPr>
        <p:txBody>
          <a:bodyPr wrap="square" lIns="0" tIns="0" rIns="0" bIns="0" anchor="t" rtlCol="0">
            <a:noAutofit/>
          </a:bodyPr>
          <a:lstStyle/>
          <a:p>
            <a:pPr algn="l" marL="0" indent="0">
              <a:lnSpc>
                <a:spcPct val="105000"/>
              </a:lnSpc>
              <a:spcBef>
                <a:spcPts val="0"/>
              </a:spcBef>
              <a:spcAft>
                <a:spcPts val="0"/>
              </a:spcAft>
              <a:buNone/>
            </a:pPr>
            <a:r>
              <a:rPr lang="en-GB" sz="2000" b="0" dirty="0">
                <a:solidFill>
                  <a:srgbClr val="0B1F3A"/>
                </a:solidFill>
                <a:latin typeface="Calibri"/>
                <a:cs typeface="Calibri"/>
              </a:rPr>
              <a:t>First IV antibiotic dose recorded as given on the drug chart within 60 minutes of the…</a:t>
            </a:r>
            <a:endParaRPr lang="en-GB"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5</a:t>
            </a:r>
            <a:endParaRPr lang="en-GB" sz="1000" dirty="0"/>
          </a:p>
        </p:txBody>
      </p:sp>
      <p:sp>
        <p:nvSpPr>
          <p:cNvPr id="3" name="Text 3"/>
          <p:cNvSpPr txBox="1"/>
          <p:nvPr/>
        </p:nvSpPr>
        <p:spPr>
          <a:xfrm>
            <a:off x="822960" y="640080"/>
            <a:ext cx="10545775" cy="914400"/>
          </a:xfrm>
          <a:prstGeom prst="rect">
            <a:avLst/>
          </a:prstGeom>
          <a:noFill/>
          <a:ln>
            <a:noFill/>
          </a:ln>
        </p:spPr>
        <p:txBody>
          <a:bodyPr wrap="square" lIns="0" tIns="0" rIns="0" bIns="0" anchor="t" rtlCol="0">
            <a:noAutofit/>
          </a:bodyPr>
          <a:lstStyle/>
          <a:p>
            <a:pPr algn="l" marL="0" indent="0">
              <a:lnSpc>
                <a:spcPct val="95000"/>
              </a:lnSpc>
              <a:spcBef>
                <a:spcPts val="0"/>
              </a:spcBef>
              <a:spcAft>
                <a:spcPts val="0"/>
              </a:spcAft>
              <a:buNone/>
            </a:pPr>
            <a:r>
              <a:rPr lang="en-GB" sz="3200" b="0" dirty="0">
                <a:solidFill>
                  <a:srgbClr val="0B1F3A"/>
                </a:solidFill>
                <a:latin typeface="Georgia"/>
                <a:cs typeface="Georgia"/>
              </a:rPr>
              <a:t>The data we will collect</a:t>
            </a:r>
            <a:endParaRPr lang="en-GB" sz="3200" dirty="0"/>
          </a:p>
        </p:txBody>
      </p:sp>
      <p:sp>
        <p:nvSpPr>
          <p:cNvPr id="4" name="Shape 4"/>
          <p:cNvSpPr/>
          <p:nvPr/>
        </p:nvSpPr>
        <p:spPr>
          <a:xfrm>
            <a:off x="822960" y="1691640"/>
            <a:ext cx="10545775" cy="294437"/>
          </a:xfrm>
          <a:prstGeom prst="rect">
            <a:avLst/>
          </a:prstGeom>
          <a:solidFill>
            <a:srgbClr val="EDEDED"/>
          </a:solidFill>
          <a:ln>
            <a:noFill/>
          </a:ln>
        </p:spPr>
        <p:txBody>
          <a:bodyPr rtlCol="0" anchor="ctr"/>
          <a:lstStyle/>
          <a:p>
            <a:endParaRPr lang="en-GB" dirty="0"/>
          </a:p>
        </p:txBody>
      </p:sp>
      <p:sp>
        <p:nvSpPr>
          <p:cNvPr id="5" name="Text 5"/>
          <p:cNvSpPr txBox="1"/>
          <p:nvPr/>
        </p:nvSpPr>
        <p:spPr>
          <a:xfrm>
            <a:off x="1234440" y="1691640"/>
            <a:ext cx="1447756" cy="294437"/>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A</a:t>
            </a:r>
            <a:endParaRPr lang="en-GB" sz="1000" dirty="0"/>
          </a:p>
        </p:txBody>
      </p:sp>
      <p:sp>
        <p:nvSpPr>
          <p:cNvPr id="6" name="Text 6"/>
          <p:cNvSpPr txBox="1"/>
          <p:nvPr/>
        </p:nvSpPr>
        <p:spPr>
          <a:xfrm>
            <a:off x="2682196" y="1691640"/>
            <a:ext cx="1447756" cy="294437"/>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B</a:t>
            </a:r>
            <a:endParaRPr lang="en-GB" sz="1000" dirty="0"/>
          </a:p>
        </p:txBody>
      </p:sp>
      <p:sp>
        <p:nvSpPr>
          <p:cNvPr id="7" name="Text 7"/>
          <p:cNvSpPr txBox="1"/>
          <p:nvPr/>
        </p:nvSpPr>
        <p:spPr>
          <a:xfrm>
            <a:off x="4129953" y="1691640"/>
            <a:ext cx="1447756" cy="294437"/>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C</a:t>
            </a:r>
            <a:endParaRPr lang="en-GB" sz="1000" dirty="0"/>
          </a:p>
        </p:txBody>
      </p:sp>
      <p:sp>
        <p:nvSpPr>
          <p:cNvPr id="8" name="Text 8"/>
          <p:cNvSpPr txBox="1"/>
          <p:nvPr/>
        </p:nvSpPr>
        <p:spPr>
          <a:xfrm>
            <a:off x="5577709" y="1691640"/>
            <a:ext cx="1447756" cy="294437"/>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D</a:t>
            </a:r>
            <a:endParaRPr lang="en-GB" sz="1000" dirty="0"/>
          </a:p>
        </p:txBody>
      </p:sp>
      <p:sp>
        <p:nvSpPr>
          <p:cNvPr id="9" name="Text 9"/>
          <p:cNvSpPr txBox="1"/>
          <p:nvPr/>
        </p:nvSpPr>
        <p:spPr>
          <a:xfrm>
            <a:off x="7025466" y="1691640"/>
            <a:ext cx="1447756" cy="294437"/>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E</a:t>
            </a:r>
            <a:endParaRPr lang="en-GB" sz="1000" dirty="0"/>
          </a:p>
        </p:txBody>
      </p:sp>
      <p:sp>
        <p:nvSpPr>
          <p:cNvPr id="10" name="Text 10"/>
          <p:cNvSpPr txBox="1"/>
          <p:nvPr/>
        </p:nvSpPr>
        <p:spPr>
          <a:xfrm>
            <a:off x="8473222" y="1691640"/>
            <a:ext cx="1447756" cy="294437"/>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F</a:t>
            </a:r>
            <a:endParaRPr lang="en-GB" sz="1000" dirty="0"/>
          </a:p>
        </p:txBody>
      </p:sp>
      <p:sp>
        <p:nvSpPr>
          <p:cNvPr id="11" name="Text 11"/>
          <p:cNvSpPr txBox="1"/>
          <p:nvPr/>
        </p:nvSpPr>
        <p:spPr>
          <a:xfrm>
            <a:off x="9920979" y="1691640"/>
            <a:ext cx="1447756" cy="294437"/>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G</a:t>
            </a:r>
            <a:endParaRPr lang="en-GB" sz="1000" dirty="0"/>
          </a:p>
        </p:txBody>
      </p:sp>
      <p:sp>
        <p:nvSpPr>
          <p:cNvPr id="12" name="Shape 12"/>
          <p:cNvSpPr/>
          <p:nvPr/>
        </p:nvSpPr>
        <p:spPr>
          <a:xfrm>
            <a:off x="1234440" y="1986077"/>
            <a:ext cx="10134295" cy="672998"/>
          </a:xfrm>
          <a:prstGeom prst="rect">
            <a:avLst/>
          </a:prstGeom>
          <a:solidFill>
            <a:srgbClr val="3346D3"/>
          </a:solidFill>
          <a:ln>
            <a:noFill/>
          </a:ln>
        </p:spPr>
        <p:txBody>
          <a:bodyPr rtlCol="0" anchor="ctr"/>
          <a:lstStyle/>
          <a:p>
            <a:endParaRPr lang="en-GB" dirty="0"/>
          </a:p>
        </p:txBody>
      </p:sp>
      <p:sp>
        <p:nvSpPr>
          <p:cNvPr id="13" name="Shape 13"/>
          <p:cNvSpPr/>
          <p:nvPr/>
        </p:nvSpPr>
        <p:spPr>
          <a:xfrm>
            <a:off x="822960" y="1986077"/>
            <a:ext cx="411480" cy="672998"/>
          </a:xfrm>
          <a:prstGeom prst="rect">
            <a:avLst/>
          </a:prstGeom>
          <a:solidFill>
            <a:srgbClr val="EDEDED"/>
          </a:solidFill>
          <a:ln>
            <a:noFill/>
          </a:ln>
        </p:spPr>
        <p:txBody>
          <a:bodyPr rtlCol="0" anchor="ctr"/>
          <a:lstStyle/>
          <a:p>
            <a:endParaRPr lang="en-GB" dirty="0"/>
          </a:p>
        </p:txBody>
      </p:sp>
      <p:sp>
        <p:nvSpPr>
          <p:cNvPr id="14" name="Text 14"/>
          <p:cNvSpPr txBox="1"/>
          <p:nvPr/>
        </p:nvSpPr>
        <p:spPr>
          <a:xfrm>
            <a:off x="822960" y="1986077"/>
            <a:ext cx="411480" cy="672998"/>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1</a:t>
            </a:r>
            <a:endParaRPr lang="en-GB" sz="1000" dirty="0"/>
          </a:p>
        </p:txBody>
      </p:sp>
      <p:sp>
        <p:nvSpPr>
          <p:cNvPr id="15" name="Shape 15"/>
          <p:cNvSpPr/>
          <p:nvPr/>
        </p:nvSpPr>
        <p:spPr>
          <a:xfrm>
            <a:off x="822960" y="2659075"/>
            <a:ext cx="411480" cy="420624"/>
          </a:xfrm>
          <a:prstGeom prst="rect">
            <a:avLst/>
          </a:prstGeom>
          <a:solidFill>
            <a:srgbClr val="EDEDED"/>
          </a:solidFill>
          <a:ln>
            <a:noFill/>
          </a:ln>
        </p:spPr>
        <p:txBody>
          <a:bodyPr rtlCol="0" anchor="ctr"/>
          <a:lstStyle/>
          <a:p>
            <a:endParaRPr lang="en-GB" dirty="0"/>
          </a:p>
        </p:txBody>
      </p:sp>
      <p:sp>
        <p:nvSpPr>
          <p:cNvPr id="16" name="Text 16"/>
          <p:cNvSpPr txBox="1"/>
          <p:nvPr/>
        </p:nvSpPr>
        <p:spPr>
          <a:xfrm>
            <a:off x="822960" y="2659075"/>
            <a:ext cx="411480" cy="420624"/>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2</a:t>
            </a:r>
            <a:endParaRPr lang="en-GB" sz="1000" dirty="0"/>
          </a:p>
        </p:txBody>
      </p:sp>
      <p:sp>
        <p:nvSpPr>
          <p:cNvPr id="17" name="Shape 17"/>
          <p:cNvSpPr/>
          <p:nvPr/>
        </p:nvSpPr>
        <p:spPr>
          <a:xfrm>
            <a:off x="822960" y="3079699"/>
            <a:ext cx="411480" cy="420624"/>
          </a:xfrm>
          <a:prstGeom prst="rect">
            <a:avLst/>
          </a:prstGeom>
          <a:solidFill>
            <a:srgbClr val="EDEDED"/>
          </a:solidFill>
          <a:ln>
            <a:noFill/>
          </a:ln>
        </p:spPr>
        <p:txBody>
          <a:bodyPr rtlCol="0" anchor="ctr"/>
          <a:lstStyle/>
          <a:p>
            <a:endParaRPr lang="en-GB" dirty="0"/>
          </a:p>
        </p:txBody>
      </p:sp>
      <p:sp>
        <p:nvSpPr>
          <p:cNvPr id="18" name="Text 18"/>
          <p:cNvSpPr txBox="1"/>
          <p:nvPr/>
        </p:nvSpPr>
        <p:spPr>
          <a:xfrm>
            <a:off x="822960" y="3079699"/>
            <a:ext cx="411480" cy="420624"/>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3</a:t>
            </a:r>
            <a:endParaRPr lang="en-GB" sz="1000" dirty="0"/>
          </a:p>
        </p:txBody>
      </p:sp>
      <p:sp>
        <p:nvSpPr>
          <p:cNvPr id="19" name="Shape 19"/>
          <p:cNvSpPr/>
          <p:nvPr/>
        </p:nvSpPr>
        <p:spPr>
          <a:xfrm>
            <a:off x="822960" y="3500323"/>
            <a:ext cx="411480" cy="420624"/>
          </a:xfrm>
          <a:prstGeom prst="rect">
            <a:avLst/>
          </a:prstGeom>
          <a:solidFill>
            <a:srgbClr val="EDEDED"/>
          </a:solidFill>
          <a:ln>
            <a:noFill/>
          </a:ln>
        </p:spPr>
        <p:txBody>
          <a:bodyPr rtlCol="0" anchor="ctr"/>
          <a:lstStyle/>
          <a:p>
            <a:endParaRPr lang="en-GB" dirty="0"/>
          </a:p>
        </p:txBody>
      </p:sp>
      <p:sp>
        <p:nvSpPr>
          <p:cNvPr id="20" name="Text 20"/>
          <p:cNvSpPr txBox="1"/>
          <p:nvPr/>
        </p:nvSpPr>
        <p:spPr>
          <a:xfrm>
            <a:off x="822960" y="3500323"/>
            <a:ext cx="411480" cy="420624"/>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4</a:t>
            </a:r>
            <a:endParaRPr lang="en-GB" sz="1000" dirty="0"/>
          </a:p>
        </p:txBody>
      </p:sp>
      <p:sp>
        <p:nvSpPr>
          <p:cNvPr id="21" name="Shape 21"/>
          <p:cNvSpPr/>
          <p:nvPr/>
        </p:nvSpPr>
        <p:spPr>
          <a:xfrm>
            <a:off x="822960" y="3920947"/>
            <a:ext cx="411480" cy="420624"/>
          </a:xfrm>
          <a:prstGeom prst="rect">
            <a:avLst/>
          </a:prstGeom>
          <a:solidFill>
            <a:srgbClr val="EDEDED"/>
          </a:solidFill>
          <a:ln>
            <a:noFill/>
          </a:ln>
        </p:spPr>
        <p:txBody>
          <a:bodyPr rtlCol="0" anchor="ctr"/>
          <a:lstStyle/>
          <a:p>
            <a:endParaRPr lang="en-GB" dirty="0"/>
          </a:p>
        </p:txBody>
      </p:sp>
      <p:sp>
        <p:nvSpPr>
          <p:cNvPr id="22" name="Text 22"/>
          <p:cNvSpPr txBox="1"/>
          <p:nvPr/>
        </p:nvSpPr>
        <p:spPr>
          <a:xfrm>
            <a:off x="822960" y="3920947"/>
            <a:ext cx="411480" cy="420624"/>
          </a:xfrm>
          <a:prstGeom prst="rect">
            <a:avLst/>
          </a:prstGeom>
          <a:noFill/>
          <a:ln>
            <a:noFill/>
          </a:ln>
        </p:spPr>
        <p:txBody>
          <a:bodyPr wrap="square" lIns="0" tIns="0" rIns="0" bIns="0" anchor="ctr" rtlCol="0">
            <a:noAutofit/>
          </a:bodyPr>
          <a:lstStyle/>
          <a:p>
            <a:pPr algn="ctr" marL="0" indent="0">
              <a:lnSpc>
                <a:spcPct val="100000"/>
              </a:lnSpc>
              <a:spcBef>
                <a:spcPts val="0"/>
              </a:spcBef>
              <a:spcAft>
                <a:spcPts val="0"/>
              </a:spcAft>
              <a:buNone/>
            </a:pPr>
            <a:r>
              <a:rPr lang="en-GB" sz="1000" b="0" dirty="0">
                <a:solidFill>
                  <a:srgbClr val="6B6B6B"/>
                </a:solidFill>
                <a:latin typeface="Calibri"/>
                <a:cs typeface="Calibri"/>
              </a:rPr>
              <a:t>5</a:t>
            </a:r>
            <a:endParaRPr lang="en-GB" sz="1000" dirty="0"/>
          </a:p>
        </p:txBody>
      </p:sp>
      <p:sp>
        <p:nvSpPr>
          <p:cNvPr id="23" name="Text 23"/>
          <p:cNvSpPr txBox="1"/>
          <p:nvPr/>
        </p:nvSpPr>
        <p:spPr>
          <a:xfrm>
            <a:off x="1289304" y="1986077"/>
            <a:ext cx="1338028" cy="672998"/>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200" b="1" dirty="0">
                <a:solidFill>
                  <a:srgbClr val="FFFFFF"/>
                </a:solidFill>
                <a:latin typeface="Calibri"/>
                <a:cs typeface="Calibri"/>
              </a:rPr>
              <a:t>Hospital number pseudonymised</a:t>
            </a:r>
            <a:endParaRPr lang="en-GB" sz="1200" dirty="0"/>
          </a:p>
        </p:txBody>
      </p:sp>
      <p:sp>
        <p:nvSpPr>
          <p:cNvPr id="24" name="Text 24"/>
          <p:cNvSpPr txBox="1"/>
          <p:nvPr/>
        </p:nvSpPr>
        <p:spPr>
          <a:xfrm>
            <a:off x="1289304" y="2659075"/>
            <a:ext cx="1338028" cy="42062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i="1" dirty="0">
                <a:solidFill>
                  <a:srgbClr val="8A8A8A"/>
                </a:solidFill>
                <a:latin typeface="Calibri"/>
                <a:cs typeface="Calibri"/>
              </a:rPr>
              <a:t>P001</a:t>
            </a:r>
            <a:endParaRPr lang="en-GB" sz="1000" dirty="0"/>
          </a:p>
        </p:txBody>
      </p:sp>
      <p:sp>
        <p:nvSpPr>
          <p:cNvPr id="25" name="Text 25"/>
          <p:cNvSpPr txBox="1"/>
          <p:nvPr/>
        </p:nvSpPr>
        <p:spPr>
          <a:xfrm>
            <a:off x="2737060" y="1986077"/>
            <a:ext cx="1338028" cy="672998"/>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200" b="1" dirty="0">
                <a:solidFill>
                  <a:srgbClr val="FFFFFF"/>
                </a:solidFill>
                <a:latin typeface="Calibri"/>
                <a:cs typeface="Calibri"/>
              </a:rPr>
              <a:t>Arrival datetime</a:t>
            </a:r>
            <a:endParaRPr lang="en-GB" sz="1200" dirty="0"/>
          </a:p>
        </p:txBody>
      </p:sp>
      <p:sp>
        <p:nvSpPr>
          <p:cNvPr id="26" name="Text 26"/>
          <p:cNvSpPr txBox="1"/>
          <p:nvPr/>
        </p:nvSpPr>
        <p:spPr>
          <a:xfrm>
            <a:off x="2737060" y="2659075"/>
            <a:ext cx="1338028" cy="42062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i="1" dirty="0">
                <a:solidFill>
                  <a:srgbClr val="8A8A8A"/>
                </a:solidFill>
                <a:latin typeface="Calibri"/>
                <a:cs typeface="Calibri"/>
              </a:rPr>
              <a:t>dd/mm/yyyy hh:mm</a:t>
            </a:r>
            <a:endParaRPr lang="en-GB" sz="1000" dirty="0"/>
          </a:p>
        </p:txBody>
      </p:sp>
      <p:sp>
        <p:nvSpPr>
          <p:cNvPr id="27" name="Text 27"/>
          <p:cNvSpPr txBox="1"/>
          <p:nvPr/>
        </p:nvSpPr>
        <p:spPr>
          <a:xfrm>
            <a:off x="4184817" y="1986077"/>
            <a:ext cx="1338028" cy="672998"/>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200" b="1" dirty="0">
                <a:solidFill>
                  <a:srgbClr val="FFFFFF"/>
                </a:solidFill>
                <a:latin typeface="Calibri"/>
                <a:cs typeface="Calibri"/>
              </a:rPr>
              <a:t>First ed news2 datetime</a:t>
            </a:r>
            <a:endParaRPr lang="en-GB" sz="1200" dirty="0"/>
          </a:p>
        </p:txBody>
      </p:sp>
      <p:sp>
        <p:nvSpPr>
          <p:cNvPr id="28" name="Text 28"/>
          <p:cNvSpPr txBox="1"/>
          <p:nvPr/>
        </p:nvSpPr>
        <p:spPr>
          <a:xfrm>
            <a:off x="4184817" y="2659075"/>
            <a:ext cx="1338028" cy="42062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i="1" dirty="0">
                <a:solidFill>
                  <a:srgbClr val="8A8A8A"/>
                </a:solidFill>
                <a:latin typeface="Calibri"/>
                <a:cs typeface="Calibri"/>
              </a:rPr>
              <a:t>dd/mm/yyyy hh:mm</a:t>
            </a:r>
            <a:endParaRPr lang="en-GB" sz="1000" dirty="0"/>
          </a:p>
        </p:txBody>
      </p:sp>
      <p:sp>
        <p:nvSpPr>
          <p:cNvPr id="29" name="Text 29"/>
          <p:cNvSpPr txBox="1"/>
          <p:nvPr/>
        </p:nvSpPr>
        <p:spPr>
          <a:xfrm>
            <a:off x="5632573" y="1986077"/>
            <a:ext cx="1338028" cy="672998"/>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200" b="1" dirty="0">
                <a:solidFill>
                  <a:srgbClr val="FFFFFF"/>
                </a:solidFill>
                <a:latin typeface="Calibri"/>
                <a:cs typeface="Calibri"/>
              </a:rPr>
              <a:t>First ed news2 score</a:t>
            </a:r>
            <a:endParaRPr lang="en-GB" sz="1200" dirty="0"/>
          </a:p>
        </p:txBody>
      </p:sp>
      <p:sp>
        <p:nvSpPr>
          <p:cNvPr id="30" name="Text 30"/>
          <p:cNvSpPr txBox="1"/>
          <p:nvPr/>
        </p:nvSpPr>
        <p:spPr>
          <a:xfrm>
            <a:off x="5632573" y="2659075"/>
            <a:ext cx="1338028" cy="42062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i="1" dirty="0">
                <a:solidFill>
                  <a:srgbClr val="8A8A8A"/>
                </a:solidFill>
                <a:latin typeface="Calibri"/>
                <a:cs typeface="Calibri"/>
              </a:rPr>
              <a:t>123</a:t>
            </a:r>
            <a:endParaRPr lang="en-GB" sz="1000" dirty="0"/>
          </a:p>
        </p:txBody>
      </p:sp>
      <p:sp>
        <p:nvSpPr>
          <p:cNvPr id="31" name="Text 31"/>
          <p:cNvSpPr txBox="1"/>
          <p:nvPr/>
        </p:nvSpPr>
        <p:spPr>
          <a:xfrm>
            <a:off x="7080330" y="1986077"/>
            <a:ext cx="1338028" cy="672998"/>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200" b="1" dirty="0">
                <a:solidFill>
                  <a:srgbClr val="FFFFFF"/>
                </a:solidFill>
                <a:latin typeface="Calibri"/>
                <a:cs typeface="Calibri"/>
              </a:rPr>
              <a:t>Prehospital antibiotic given</a:t>
            </a:r>
            <a:endParaRPr lang="en-GB" sz="1200" dirty="0"/>
          </a:p>
        </p:txBody>
      </p:sp>
      <p:sp>
        <p:nvSpPr>
          <p:cNvPr id="32" name="Text 32"/>
          <p:cNvSpPr txBox="1"/>
          <p:nvPr/>
        </p:nvSpPr>
        <p:spPr>
          <a:xfrm>
            <a:off x="7080330" y="2659075"/>
            <a:ext cx="1338028" cy="42062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i="1" dirty="0">
                <a:solidFill>
                  <a:srgbClr val="8A8A8A"/>
                </a:solidFill>
                <a:latin typeface="Calibri"/>
                <a:cs typeface="Calibri"/>
              </a:rPr>
              <a:t>▾ yes / no</a:t>
            </a:r>
            <a:endParaRPr lang="en-GB" sz="1000" dirty="0"/>
          </a:p>
        </p:txBody>
      </p:sp>
      <p:sp>
        <p:nvSpPr>
          <p:cNvPr id="33" name="Text 33"/>
          <p:cNvSpPr txBox="1"/>
          <p:nvPr/>
        </p:nvSpPr>
        <p:spPr>
          <a:xfrm>
            <a:off x="8528086" y="1986077"/>
            <a:ext cx="1338028" cy="672998"/>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200" b="1" dirty="0">
                <a:solidFill>
                  <a:srgbClr val="FFFFFF"/>
                </a:solidFill>
                <a:latin typeface="Calibri"/>
                <a:cs typeface="Calibri"/>
              </a:rPr>
              <a:t>Antibiotic administered datetime</a:t>
            </a:r>
            <a:endParaRPr lang="en-GB" sz="1200" dirty="0"/>
          </a:p>
        </p:txBody>
      </p:sp>
      <p:sp>
        <p:nvSpPr>
          <p:cNvPr id="34" name="Text 34"/>
          <p:cNvSpPr txBox="1"/>
          <p:nvPr/>
        </p:nvSpPr>
        <p:spPr>
          <a:xfrm>
            <a:off x="8528086" y="2659075"/>
            <a:ext cx="1338028" cy="42062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i="1" dirty="0">
                <a:solidFill>
                  <a:srgbClr val="8A8A8A"/>
                </a:solidFill>
                <a:latin typeface="Calibri"/>
                <a:cs typeface="Calibri"/>
              </a:rPr>
              <a:t>dd/mm/yyyy hh:mm</a:t>
            </a:r>
            <a:endParaRPr lang="en-GB" sz="1000" dirty="0"/>
          </a:p>
        </p:txBody>
      </p:sp>
      <p:sp>
        <p:nvSpPr>
          <p:cNvPr id="35" name="Text 35"/>
          <p:cNvSpPr txBox="1"/>
          <p:nvPr/>
        </p:nvSpPr>
        <p:spPr>
          <a:xfrm>
            <a:off x="9975843" y="1986077"/>
            <a:ext cx="1338028" cy="672998"/>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200" b="1" dirty="0">
                <a:solidFill>
                  <a:srgbClr val="FFFFFF"/>
                </a:solidFill>
                <a:latin typeface="Calibri"/>
                <a:cs typeface="Calibri"/>
              </a:rPr>
              <a:t>Minutes news2 to antibiotic</a:t>
            </a:r>
            <a:endParaRPr lang="en-GB" sz="1200" dirty="0"/>
          </a:p>
        </p:txBody>
      </p:sp>
      <p:sp>
        <p:nvSpPr>
          <p:cNvPr id="36" name="Text 36"/>
          <p:cNvSpPr txBox="1"/>
          <p:nvPr/>
        </p:nvSpPr>
        <p:spPr>
          <a:xfrm>
            <a:off x="9975843" y="2659075"/>
            <a:ext cx="1338028" cy="42062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000" b="0" i="1" dirty="0">
                <a:solidFill>
                  <a:srgbClr val="8A8A8A"/>
                </a:solidFill>
                <a:latin typeface="Calibri"/>
                <a:cs typeface="Calibri"/>
              </a:rPr>
              <a:t>123</a:t>
            </a:r>
            <a:endParaRPr lang="en-GB" sz="1000" dirty="0"/>
          </a:p>
        </p:txBody>
      </p:sp>
      <p:cxnSp>
        <p:nvCxnSpPr>
          <p:cNvPr id="37" name="Line 37"/>
          <p:cNvCxnSpPr/>
          <p:nvPr/>
        </p:nvCxnSpPr>
        <p:spPr>
          <a:xfrm>
            <a:off x="1234440" y="1691640"/>
            <a:ext cx="0" cy="2649931"/>
          </a:xfrm>
          <a:prstGeom prst="line">
            <a:avLst/>
          </a:prstGeom>
          <a:ln w="6350" cap="rnd">
            <a:solidFill>
              <a:srgbClr val="C8C8C8"/>
            </a:solidFill>
          </a:ln>
        </p:spPr>
      </p:cxnSp>
      <p:cxnSp>
        <p:nvCxnSpPr>
          <p:cNvPr id="38" name="Line 38"/>
          <p:cNvCxnSpPr/>
          <p:nvPr/>
        </p:nvCxnSpPr>
        <p:spPr>
          <a:xfrm>
            <a:off x="2682196" y="1691640"/>
            <a:ext cx="0" cy="2649931"/>
          </a:xfrm>
          <a:prstGeom prst="line">
            <a:avLst/>
          </a:prstGeom>
          <a:ln w="6350" cap="rnd">
            <a:solidFill>
              <a:srgbClr val="C8C8C8"/>
            </a:solidFill>
          </a:ln>
        </p:spPr>
      </p:cxnSp>
      <p:cxnSp>
        <p:nvCxnSpPr>
          <p:cNvPr id="39" name="Line 39"/>
          <p:cNvCxnSpPr/>
          <p:nvPr/>
        </p:nvCxnSpPr>
        <p:spPr>
          <a:xfrm>
            <a:off x="4129953" y="1691640"/>
            <a:ext cx="0" cy="2649931"/>
          </a:xfrm>
          <a:prstGeom prst="line">
            <a:avLst/>
          </a:prstGeom>
          <a:ln w="6350" cap="rnd">
            <a:solidFill>
              <a:srgbClr val="C8C8C8"/>
            </a:solidFill>
          </a:ln>
        </p:spPr>
      </p:cxnSp>
      <p:cxnSp>
        <p:nvCxnSpPr>
          <p:cNvPr id="40" name="Line 40"/>
          <p:cNvCxnSpPr/>
          <p:nvPr/>
        </p:nvCxnSpPr>
        <p:spPr>
          <a:xfrm>
            <a:off x="5577709" y="1691640"/>
            <a:ext cx="0" cy="2649931"/>
          </a:xfrm>
          <a:prstGeom prst="line">
            <a:avLst/>
          </a:prstGeom>
          <a:ln w="6350" cap="rnd">
            <a:solidFill>
              <a:srgbClr val="C8C8C8"/>
            </a:solidFill>
          </a:ln>
        </p:spPr>
      </p:cxnSp>
      <p:cxnSp>
        <p:nvCxnSpPr>
          <p:cNvPr id="41" name="Line 41"/>
          <p:cNvCxnSpPr/>
          <p:nvPr/>
        </p:nvCxnSpPr>
        <p:spPr>
          <a:xfrm>
            <a:off x="7025466" y="1691640"/>
            <a:ext cx="0" cy="2649931"/>
          </a:xfrm>
          <a:prstGeom prst="line">
            <a:avLst/>
          </a:prstGeom>
          <a:ln w="6350" cap="rnd">
            <a:solidFill>
              <a:srgbClr val="C8C8C8"/>
            </a:solidFill>
          </a:ln>
        </p:spPr>
      </p:cxnSp>
      <p:cxnSp>
        <p:nvCxnSpPr>
          <p:cNvPr id="42" name="Line 42"/>
          <p:cNvCxnSpPr/>
          <p:nvPr/>
        </p:nvCxnSpPr>
        <p:spPr>
          <a:xfrm>
            <a:off x="8473222" y="1691640"/>
            <a:ext cx="0" cy="2649931"/>
          </a:xfrm>
          <a:prstGeom prst="line">
            <a:avLst/>
          </a:prstGeom>
          <a:ln w="6350" cap="rnd">
            <a:solidFill>
              <a:srgbClr val="C8C8C8"/>
            </a:solidFill>
          </a:ln>
        </p:spPr>
      </p:cxnSp>
      <p:cxnSp>
        <p:nvCxnSpPr>
          <p:cNvPr id="43" name="Line 43"/>
          <p:cNvCxnSpPr/>
          <p:nvPr/>
        </p:nvCxnSpPr>
        <p:spPr>
          <a:xfrm>
            <a:off x="9920979" y="1691640"/>
            <a:ext cx="0" cy="2649931"/>
          </a:xfrm>
          <a:prstGeom prst="line">
            <a:avLst/>
          </a:prstGeom>
          <a:ln w="6350" cap="rnd">
            <a:solidFill>
              <a:srgbClr val="C8C8C8"/>
            </a:solidFill>
          </a:ln>
        </p:spPr>
      </p:cxnSp>
      <p:cxnSp>
        <p:nvCxnSpPr>
          <p:cNvPr id="44" name="Line 44"/>
          <p:cNvCxnSpPr/>
          <p:nvPr/>
        </p:nvCxnSpPr>
        <p:spPr>
          <a:xfrm>
            <a:off x="11368735" y="1691640"/>
            <a:ext cx="0" cy="2649931"/>
          </a:xfrm>
          <a:prstGeom prst="line">
            <a:avLst/>
          </a:prstGeom>
          <a:ln w="6350" cap="rnd">
            <a:solidFill>
              <a:srgbClr val="C8C8C8"/>
            </a:solidFill>
          </a:ln>
        </p:spPr>
      </p:cxnSp>
      <p:cxnSp>
        <p:nvCxnSpPr>
          <p:cNvPr id="45" name="Line 45"/>
          <p:cNvCxnSpPr/>
          <p:nvPr/>
        </p:nvCxnSpPr>
        <p:spPr>
          <a:xfrm>
            <a:off x="822960" y="1691640"/>
            <a:ext cx="0" cy="2649931"/>
          </a:xfrm>
          <a:prstGeom prst="line">
            <a:avLst/>
          </a:prstGeom>
          <a:ln w="6350" cap="rnd">
            <a:solidFill>
              <a:srgbClr val="C8C8C8"/>
            </a:solidFill>
          </a:ln>
        </p:spPr>
      </p:cxnSp>
      <p:cxnSp>
        <p:nvCxnSpPr>
          <p:cNvPr id="46" name="Line 46"/>
          <p:cNvCxnSpPr/>
          <p:nvPr/>
        </p:nvCxnSpPr>
        <p:spPr>
          <a:xfrm>
            <a:off x="822960" y="1691640"/>
            <a:ext cx="10545775" cy="0"/>
          </a:xfrm>
          <a:prstGeom prst="line">
            <a:avLst/>
          </a:prstGeom>
          <a:ln w="6350" cap="rnd">
            <a:solidFill>
              <a:srgbClr val="C8C8C8"/>
            </a:solidFill>
          </a:ln>
        </p:spPr>
      </p:cxnSp>
      <p:cxnSp>
        <p:nvCxnSpPr>
          <p:cNvPr id="47" name="Line 47"/>
          <p:cNvCxnSpPr/>
          <p:nvPr/>
        </p:nvCxnSpPr>
        <p:spPr>
          <a:xfrm>
            <a:off x="822960" y="1986077"/>
            <a:ext cx="10545775" cy="0"/>
          </a:xfrm>
          <a:prstGeom prst="line">
            <a:avLst/>
          </a:prstGeom>
          <a:ln w="6350" cap="rnd">
            <a:solidFill>
              <a:srgbClr val="C8C8C8"/>
            </a:solidFill>
          </a:ln>
        </p:spPr>
      </p:cxnSp>
      <p:cxnSp>
        <p:nvCxnSpPr>
          <p:cNvPr id="48" name="Line 48"/>
          <p:cNvCxnSpPr/>
          <p:nvPr/>
        </p:nvCxnSpPr>
        <p:spPr>
          <a:xfrm>
            <a:off x="822960" y="2659075"/>
            <a:ext cx="10545775" cy="0"/>
          </a:xfrm>
          <a:prstGeom prst="line">
            <a:avLst/>
          </a:prstGeom>
          <a:ln w="6350" cap="rnd">
            <a:solidFill>
              <a:srgbClr val="C8C8C8"/>
            </a:solidFill>
          </a:ln>
        </p:spPr>
      </p:cxnSp>
      <p:cxnSp>
        <p:nvCxnSpPr>
          <p:cNvPr id="49" name="Line 49"/>
          <p:cNvCxnSpPr/>
          <p:nvPr/>
        </p:nvCxnSpPr>
        <p:spPr>
          <a:xfrm>
            <a:off x="822960" y="3079699"/>
            <a:ext cx="10545775" cy="0"/>
          </a:xfrm>
          <a:prstGeom prst="line">
            <a:avLst/>
          </a:prstGeom>
          <a:ln w="6350" cap="rnd">
            <a:solidFill>
              <a:srgbClr val="C8C8C8"/>
            </a:solidFill>
          </a:ln>
        </p:spPr>
      </p:cxnSp>
      <p:cxnSp>
        <p:nvCxnSpPr>
          <p:cNvPr id="50" name="Line 50"/>
          <p:cNvCxnSpPr/>
          <p:nvPr/>
        </p:nvCxnSpPr>
        <p:spPr>
          <a:xfrm>
            <a:off x="822960" y="3500323"/>
            <a:ext cx="10545775" cy="0"/>
          </a:xfrm>
          <a:prstGeom prst="line">
            <a:avLst/>
          </a:prstGeom>
          <a:ln w="6350" cap="rnd">
            <a:solidFill>
              <a:srgbClr val="C8C8C8"/>
            </a:solidFill>
          </a:ln>
        </p:spPr>
      </p:cxnSp>
      <p:cxnSp>
        <p:nvCxnSpPr>
          <p:cNvPr id="51" name="Line 51"/>
          <p:cNvCxnSpPr/>
          <p:nvPr/>
        </p:nvCxnSpPr>
        <p:spPr>
          <a:xfrm>
            <a:off x="822960" y="3920947"/>
            <a:ext cx="10545775" cy="0"/>
          </a:xfrm>
          <a:prstGeom prst="line">
            <a:avLst/>
          </a:prstGeom>
          <a:ln w="6350" cap="rnd">
            <a:solidFill>
              <a:srgbClr val="C8C8C8"/>
            </a:solidFill>
          </a:ln>
        </p:spPr>
      </p:cxnSp>
      <p:cxnSp>
        <p:nvCxnSpPr>
          <p:cNvPr id="52" name="Line 52"/>
          <p:cNvCxnSpPr/>
          <p:nvPr/>
        </p:nvCxnSpPr>
        <p:spPr>
          <a:xfrm>
            <a:off x="822960" y="4341571"/>
            <a:ext cx="10545775" cy="0"/>
          </a:xfrm>
          <a:prstGeom prst="line">
            <a:avLst/>
          </a:prstGeom>
          <a:ln w="6350" cap="rnd">
            <a:solidFill>
              <a:srgbClr val="C8C8C8"/>
            </a:solidFill>
          </a:ln>
        </p:spPr>
      </p:cxnSp>
      <p:sp>
        <p:nvSpPr>
          <p:cNvPr id="53" name="Text 53"/>
          <p:cNvSpPr txBox="1"/>
          <p:nvPr/>
        </p:nvSpPr>
        <p:spPr>
          <a:xfrm>
            <a:off x="822960" y="4570171"/>
            <a:ext cx="10545775" cy="32004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200" b="0" dirty="0">
                <a:solidFill>
                  <a:srgbClr val="44506A"/>
                </a:solidFill>
                <a:latin typeface="Calibri"/>
                <a:cs typeface="Calibri"/>
              </a:rPr>
              <a:t>+ 2 more columns  ·  One row per patient  ·  audit codes only, no patient identifiers</a:t>
            </a:r>
            <a:endParaRPr lang="en-GB"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6</a:t>
            </a:r>
            <a:endParaRPr lang="en-GB" sz="1000" dirty="0"/>
          </a:p>
        </p:txBody>
      </p:sp>
      <p:sp>
        <p:nvSpPr>
          <p:cNvPr id="3" name="Text 3"/>
          <p:cNvSpPr txBox="1"/>
          <p:nvPr/>
        </p:nvSpPr>
        <p:spPr>
          <a:xfrm>
            <a:off x="822960" y="640080"/>
            <a:ext cx="10545775" cy="914400"/>
          </a:xfrm>
          <a:prstGeom prst="rect">
            <a:avLst/>
          </a:prstGeom>
          <a:noFill/>
          <a:ln>
            <a:noFill/>
          </a:ln>
        </p:spPr>
        <p:txBody>
          <a:bodyPr wrap="square" lIns="0" tIns="0" rIns="0" bIns="0" anchor="t" rtlCol="0">
            <a:noAutofit/>
          </a:bodyPr>
          <a:lstStyle/>
          <a:p>
            <a:pPr algn="l" marL="0" indent="0">
              <a:lnSpc>
                <a:spcPct val="95000"/>
              </a:lnSpc>
              <a:spcBef>
                <a:spcPts val="0"/>
              </a:spcBef>
              <a:spcAft>
                <a:spcPts val="0"/>
              </a:spcAft>
              <a:buNone/>
            </a:pPr>
            <a:r>
              <a:rPr lang="en-GB" sz="3200" b="0" dirty="0">
                <a:solidFill>
                  <a:srgbClr val="0B1F3A"/>
                </a:solidFill>
                <a:latin typeface="Georgia"/>
                <a:cs typeface="Georgia"/>
              </a:rPr>
              <a:t>Timeline</a:t>
            </a:r>
            <a:endParaRPr lang="en-GB" sz="3200" dirty="0"/>
          </a:p>
        </p:txBody>
      </p:sp>
      <p:sp>
        <p:nvSpPr>
          <p:cNvPr id="4" name="Text 4"/>
          <p:cNvSpPr txBox="1"/>
          <p:nvPr/>
        </p:nvSpPr>
        <p:spPr>
          <a:xfrm>
            <a:off x="3749040"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1</a:t>
            </a:r>
            <a:endParaRPr lang="en-GB" sz="1000" dirty="0"/>
          </a:p>
        </p:txBody>
      </p:sp>
      <p:sp>
        <p:nvSpPr>
          <p:cNvPr id="5" name="Text 5"/>
          <p:cNvSpPr txBox="1"/>
          <p:nvPr/>
        </p:nvSpPr>
        <p:spPr>
          <a:xfrm>
            <a:off x="4293304"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2</a:t>
            </a:r>
            <a:endParaRPr lang="en-GB" sz="1000" dirty="0"/>
          </a:p>
        </p:txBody>
      </p:sp>
      <p:sp>
        <p:nvSpPr>
          <p:cNvPr id="6" name="Text 6"/>
          <p:cNvSpPr txBox="1"/>
          <p:nvPr/>
        </p:nvSpPr>
        <p:spPr>
          <a:xfrm>
            <a:off x="4837568"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3</a:t>
            </a:r>
            <a:endParaRPr lang="en-GB" sz="1000" dirty="0"/>
          </a:p>
        </p:txBody>
      </p:sp>
      <p:sp>
        <p:nvSpPr>
          <p:cNvPr id="7" name="Text 7"/>
          <p:cNvSpPr txBox="1"/>
          <p:nvPr/>
        </p:nvSpPr>
        <p:spPr>
          <a:xfrm>
            <a:off x="5381832"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4</a:t>
            </a:r>
            <a:endParaRPr lang="en-GB" sz="1000" dirty="0"/>
          </a:p>
        </p:txBody>
      </p:sp>
      <p:sp>
        <p:nvSpPr>
          <p:cNvPr id="8" name="Text 8"/>
          <p:cNvSpPr txBox="1"/>
          <p:nvPr/>
        </p:nvSpPr>
        <p:spPr>
          <a:xfrm>
            <a:off x="5926096"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5</a:t>
            </a:r>
            <a:endParaRPr lang="en-GB" sz="1000" dirty="0"/>
          </a:p>
        </p:txBody>
      </p:sp>
      <p:sp>
        <p:nvSpPr>
          <p:cNvPr id="9" name="Text 9"/>
          <p:cNvSpPr txBox="1"/>
          <p:nvPr/>
        </p:nvSpPr>
        <p:spPr>
          <a:xfrm>
            <a:off x="6470360"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6</a:t>
            </a:r>
            <a:endParaRPr lang="en-GB" sz="1000" dirty="0"/>
          </a:p>
        </p:txBody>
      </p:sp>
      <p:sp>
        <p:nvSpPr>
          <p:cNvPr id="10" name="Text 10"/>
          <p:cNvSpPr txBox="1"/>
          <p:nvPr/>
        </p:nvSpPr>
        <p:spPr>
          <a:xfrm>
            <a:off x="7014624"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7</a:t>
            </a:r>
            <a:endParaRPr lang="en-GB" sz="1000" dirty="0"/>
          </a:p>
        </p:txBody>
      </p:sp>
      <p:sp>
        <p:nvSpPr>
          <p:cNvPr id="11" name="Text 11"/>
          <p:cNvSpPr txBox="1"/>
          <p:nvPr/>
        </p:nvSpPr>
        <p:spPr>
          <a:xfrm>
            <a:off x="7558888"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8</a:t>
            </a:r>
            <a:endParaRPr lang="en-GB" sz="1000" dirty="0"/>
          </a:p>
        </p:txBody>
      </p:sp>
      <p:sp>
        <p:nvSpPr>
          <p:cNvPr id="12" name="Text 12"/>
          <p:cNvSpPr txBox="1"/>
          <p:nvPr/>
        </p:nvSpPr>
        <p:spPr>
          <a:xfrm>
            <a:off x="8103152"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9</a:t>
            </a:r>
            <a:endParaRPr lang="en-GB" sz="1000" dirty="0"/>
          </a:p>
        </p:txBody>
      </p:sp>
      <p:sp>
        <p:nvSpPr>
          <p:cNvPr id="13" name="Text 13"/>
          <p:cNvSpPr txBox="1"/>
          <p:nvPr/>
        </p:nvSpPr>
        <p:spPr>
          <a:xfrm>
            <a:off x="8647415"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10</a:t>
            </a:r>
            <a:endParaRPr lang="en-GB" sz="1000" dirty="0"/>
          </a:p>
        </p:txBody>
      </p:sp>
      <p:sp>
        <p:nvSpPr>
          <p:cNvPr id="14" name="Text 14"/>
          <p:cNvSpPr txBox="1"/>
          <p:nvPr/>
        </p:nvSpPr>
        <p:spPr>
          <a:xfrm>
            <a:off x="9191679"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11</a:t>
            </a:r>
            <a:endParaRPr lang="en-GB" sz="1000" dirty="0"/>
          </a:p>
        </p:txBody>
      </p:sp>
      <p:sp>
        <p:nvSpPr>
          <p:cNvPr id="15" name="Text 15"/>
          <p:cNvSpPr txBox="1"/>
          <p:nvPr/>
        </p:nvSpPr>
        <p:spPr>
          <a:xfrm>
            <a:off x="9735943"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12</a:t>
            </a:r>
            <a:endParaRPr lang="en-GB" sz="1000" dirty="0"/>
          </a:p>
        </p:txBody>
      </p:sp>
      <p:sp>
        <p:nvSpPr>
          <p:cNvPr id="16" name="Text 16"/>
          <p:cNvSpPr txBox="1"/>
          <p:nvPr/>
        </p:nvSpPr>
        <p:spPr>
          <a:xfrm>
            <a:off x="10280207"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13</a:t>
            </a:r>
            <a:endParaRPr lang="en-GB" sz="1000" dirty="0"/>
          </a:p>
        </p:txBody>
      </p:sp>
      <p:sp>
        <p:nvSpPr>
          <p:cNvPr id="17" name="Text 17"/>
          <p:cNvSpPr txBox="1"/>
          <p:nvPr/>
        </p:nvSpPr>
        <p:spPr>
          <a:xfrm>
            <a:off x="10824471" y="1600200"/>
            <a:ext cx="544264" cy="274320"/>
          </a:xfrm>
          <a:prstGeom prst="rect">
            <a:avLst/>
          </a:prstGeom>
          <a:noFill/>
          <a:ln>
            <a:noFill/>
          </a:ln>
        </p:spPr>
        <p:txBody>
          <a:bodyPr wrap="square" lIns="0" tIns="0" rIns="0" bIns="0" anchor="t" rtlCol="0">
            <a:noAutofit/>
          </a:bodyPr>
          <a:lstStyle/>
          <a:p>
            <a:pPr algn="ctr" marL="0" indent="0">
              <a:lnSpc>
                <a:spcPct val="100000"/>
              </a:lnSpc>
              <a:spcBef>
                <a:spcPts val="0"/>
              </a:spcBef>
              <a:spcAft>
                <a:spcPts val="0"/>
              </a:spcAft>
              <a:buNone/>
            </a:pPr>
            <a:r>
              <a:rPr lang="en-GB" sz="1000" b="0" dirty="0">
                <a:solidFill>
                  <a:srgbClr val="9AA5B8"/>
                </a:solidFill>
                <a:latin typeface="Calibri"/>
                <a:cs typeface="Calibri"/>
              </a:rPr>
              <a:t>14</a:t>
            </a:r>
            <a:endParaRPr lang="en-GB" sz="1000" dirty="0"/>
          </a:p>
        </p:txBody>
      </p:sp>
      <p:sp>
        <p:nvSpPr>
          <p:cNvPr id="18" name="Text 18"/>
          <p:cNvSpPr txBox="1"/>
          <p:nvPr/>
        </p:nvSpPr>
        <p:spPr>
          <a:xfrm>
            <a:off x="822960" y="1600200"/>
            <a:ext cx="2743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000" b="0" dirty="0">
                <a:solidFill>
                  <a:srgbClr val="9AA5B8"/>
                </a:solidFill>
                <a:latin typeface="Calibri"/>
                <a:cs typeface="Calibri"/>
              </a:rPr>
              <a:t>Week</a:t>
            </a:r>
            <a:endParaRPr lang="en-GB" sz="1000" dirty="0"/>
          </a:p>
        </p:txBody>
      </p:sp>
      <p:sp>
        <p:nvSpPr>
          <p:cNvPr id="19" name="Text 19"/>
          <p:cNvSpPr txBox="1"/>
          <p:nvPr/>
        </p:nvSpPr>
        <p:spPr>
          <a:xfrm>
            <a:off x="822960" y="2011680"/>
            <a:ext cx="2834640" cy="51206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500" b="0" dirty="0">
                <a:solidFill>
                  <a:srgbClr val="0B1F3A"/>
                </a:solidFill>
                <a:latin typeface="Calibri"/>
                <a:cs typeface="Calibri"/>
              </a:rPr>
              <a:t>Collect</a:t>
            </a:r>
            <a:endParaRPr lang="en-GB" sz="1500" dirty="0"/>
          </a:p>
        </p:txBody>
      </p:sp>
      <p:sp>
        <p:nvSpPr>
          <p:cNvPr id="20" name="Shape 20"/>
          <p:cNvSpPr/>
          <p:nvPr/>
        </p:nvSpPr>
        <p:spPr>
          <a:xfrm>
            <a:off x="3776472" y="2107692"/>
            <a:ext cx="1033664" cy="320040"/>
          </a:xfrm>
          <a:prstGeom prst="rect">
            <a:avLst/>
          </a:prstGeom>
          <a:solidFill>
            <a:srgbClr val="0B1F3A"/>
          </a:solidFill>
          <a:ln>
            <a:noFill/>
          </a:ln>
        </p:spPr>
        <p:txBody>
          <a:bodyPr rtlCol="0" anchor="ctr"/>
          <a:lstStyle/>
          <a:p>
            <a:endParaRPr lang="en-GB" dirty="0"/>
          </a:p>
        </p:txBody>
      </p:sp>
      <p:sp>
        <p:nvSpPr>
          <p:cNvPr id="21" name="Text 21"/>
          <p:cNvSpPr txBox="1"/>
          <p:nvPr/>
        </p:nvSpPr>
        <p:spPr>
          <a:xfrm>
            <a:off x="822960" y="2651760"/>
            <a:ext cx="2834640" cy="51206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500" b="0" dirty="0">
                <a:solidFill>
                  <a:srgbClr val="0B1F3A"/>
                </a:solidFill>
                <a:latin typeface="Calibri"/>
                <a:cs typeface="Calibri"/>
              </a:rPr>
              <a:t>Analyse/present</a:t>
            </a:r>
            <a:endParaRPr lang="en-GB" sz="1500" dirty="0"/>
          </a:p>
        </p:txBody>
      </p:sp>
      <p:sp>
        <p:nvSpPr>
          <p:cNvPr id="22" name="Shape 22"/>
          <p:cNvSpPr/>
          <p:nvPr/>
        </p:nvSpPr>
        <p:spPr>
          <a:xfrm>
            <a:off x="4865000" y="2747772"/>
            <a:ext cx="489400" cy="320040"/>
          </a:xfrm>
          <a:prstGeom prst="rect">
            <a:avLst/>
          </a:prstGeom>
          <a:solidFill>
            <a:srgbClr val="0B1F3A"/>
          </a:solidFill>
          <a:ln>
            <a:noFill/>
          </a:ln>
        </p:spPr>
        <p:txBody>
          <a:bodyPr rtlCol="0" anchor="ctr"/>
          <a:lstStyle/>
          <a:p>
            <a:endParaRPr lang="en-GB" dirty="0"/>
          </a:p>
        </p:txBody>
      </p:sp>
      <p:sp>
        <p:nvSpPr>
          <p:cNvPr id="23" name="Text 23"/>
          <p:cNvSpPr txBox="1"/>
          <p:nvPr/>
        </p:nvSpPr>
        <p:spPr>
          <a:xfrm>
            <a:off x="822960" y="3291840"/>
            <a:ext cx="2834640" cy="51206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500" b="0" dirty="0">
                <a:solidFill>
                  <a:srgbClr val="0B1F3A"/>
                </a:solidFill>
                <a:latin typeface="Calibri"/>
                <a:cs typeface="Calibri"/>
              </a:rPr>
              <a:t>Change</a:t>
            </a:r>
            <a:endParaRPr lang="en-GB" sz="1500" dirty="0"/>
          </a:p>
        </p:txBody>
      </p:sp>
      <p:sp>
        <p:nvSpPr>
          <p:cNvPr id="24" name="Shape 24"/>
          <p:cNvSpPr/>
          <p:nvPr/>
        </p:nvSpPr>
        <p:spPr>
          <a:xfrm>
            <a:off x="5409264" y="3387852"/>
            <a:ext cx="489400" cy="320040"/>
          </a:xfrm>
          <a:prstGeom prst="rect">
            <a:avLst/>
          </a:prstGeom>
          <a:solidFill>
            <a:srgbClr val="0B1F3A"/>
          </a:solidFill>
          <a:ln>
            <a:noFill/>
          </a:ln>
        </p:spPr>
        <p:txBody>
          <a:bodyPr rtlCol="0" anchor="ctr"/>
          <a:lstStyle/>
          <a:p>
            <a:endParaRPr lang="en-GB" dirty="0"/>
          </a:p>
        </p:txBody>
      </p:sp>
      <p:sp>
        <p:nvSpPr>
          <p:cNvPr id="25" name="Text 25"/>
          <p:cNvSpPr txBox="1"/>
          <p:nvPr/>
        </p:nvSpPr>
        <p:spPr>
          <a:xfrm>
            <a:off x="822960" y="3931920"/>
            <a:ext cx="2834640" cy="51206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500" b="0" dirty="0">
                <a:solidFill>
                  <a:srgbClr val="0B1F3A"/>
                </a:solidFill>
                <a:latin typeface="Calibri"/>
                <a:cs typeface="Calibri"/>
              </a:rPr>
              <a:t>Embed</a:t>
            </a:r>
            <a:endParaRPr lang="en-GB" sz="1500" dirty="0"/>
          </a:p>
        </p:txBody>
      </p:sp>
      <p:sp>
        <p:nvSpPr>
          <p:cNvPr id="26" name="Shape 26"/>
          <p:cNvSpPr/>
          <p:nvPr/>
        </p:nvSpPr>
        <p:spPr>
          <a:xfrm>
            <a:off x="5953528" y="4027932"/>
            <a:ext cx="4299248" cy="320040"/>
          </a:xfrm>
          <a:prstGeom prst="rect">
            <a:avLst/>
          </a:prstGeom>
          <a:solidFill>
            <a:srgbClr val="B8924A"/>
          </a:solidFill>
          <a:ln>
            <a:noFill/>
          </a:ln>
        </p:spPr>
        <p:txBody>
          <a:bodyPr rtlCol="0" anchor="ctr"/>
          <a:lstStyle/>
          <a:p>
            <a:endParaRPr lang="en-GB" dirty="0"/>
          </a:p>
        </p:txBody>
      </p:sp>
      <p:sp>
        <p:nvSpPr>
          <p:cNvPr id="27" name="Text 27"/>
          <p:cNvSpPr txBox="1"/>
          <p:nvPr/>
        </p:nvSpPr>
        <p:spPr>
          <a:xfrm>
            <a:off x="822960" y="4572000"/>
            <a:ext cx="2834640" cy="512064"/>
          </a:xfrm>
          <a:prstGeom prst="rect">
            <a:avLst/>
          </a:prstGeom>
          <a:noFill/>
          <a:ln>
            <a:noFill/>
          </a:ln>
        </p:spPr>
        <p:txBody>
          <a:bodyPr wrap="square" lIns="0" tIns="0" rIns="0" bIns="0" anchor="ctr" rtlCol="0">
            <a:noAutofit/>
          </a:bodyPr>
          <a:lstStyle/>
          <a:p>
            <a:pPr algn="l" marL="0" indent="0">
              <a:lnSpc>
                <a:spcPct val="100000"/>
              </a:lnSpc>
              <a:spcBef>
                <a:spcPts val="0"/>
              </a:spcBef>
              <a:spcAft>
                <a:spcPts val="0"/>
              </a:spcAft>
              <a:buNone/>
            </a:pPr>
            <a:r>
              <a:rPr lang="en-GB" sz="1500" b="0" dirty="0">
                <a:solidFill>
                  <a:srgbClr val="0B1F3A"/>
                </a:solidFill>
                <a:latin typeface="Calibri"/>
                <a:cs typeface="Calibri"/>
              </a:rPr>
              <a:t>Re-audit</a:t>
            </a:r>
            <a:endParaRPr lang="en-GB" sz="1500" dirty="0"/>
          </a:p>
        </p:txBody>
      </p:sp>
      <p:sp>
        <p:nvSpPr>
          <p:cNvPr id="28" name="Shape 28"/>
          <p:cNvSpPr/>
          <p:nvPr/>
        </p:nvSpPr>
        <p:spPr>
          <a:xfrm>
            <a:off x="10307639" y="4668012"/>
            <a:ext cx="1033664" cy="320040"/>
          </a:xfrm>
          <a:prstGeom prst="rect">
            <a:avLst/>
          </a:prstGeom>
          <a:solidFill>
            <a:srgbClr val="B8924A"/>
          </a:solidFill>
          <a:ln>
            <a:noFill/>
          </a:ln>
        </p:spPr>
        <p:txBody>
          <a:bodyPr rtlCol="0" anchor="ctr"/>
          <a:lstStyle/>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7</a:t>
            </a:r>
            <a:endParaRPr lang="en-GB" sz="1000" dirty="0"/>
          </a:p>
        </p:txBody>
      </p:sp>
      <p:sp>
        <p:nvSpPr>
          <p:cNvPr id="3" name="Text 3"/>
          <p:cNvSpPr txBox="1"/>
          <p:nvPr/>
        </p:nvSpPr>
        <p:spPr>
          <a:xfrm>
            <a:off x="822960" y="685800"/>
            <a:ext cx="82296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44506A"/>
                </a:solidFill>
                <a:latin typeface="Calibri"/>
                <a:cs typeface="Calibri"/>
              </a:rPr>
              <a:t>IF WE FALL SHORT: THE CHANGE</a:t>
            </a:r>
            <a:endParaRPr lang="en-GB" sz="1100" dirty="0"/>
          </a:p>
        </p:txBody>
      </p:sp>
      <p:sp>
        <p:nvSpPr>
          <p:cNvPr id="4" name="Text 4"/>
          <p:cNvSpPr txBox="1"/>
          <p:nvPr/>
        </p:nvSpPr>
        <p:spPr>
          <a:xfrm>
            <a:off x="822960" y="1371600"/>
            <a:ext cx="9326880" cy="3108960"/>
          </a:xfrm>
          <a:prstGeom prst="rect">
            <a:avLst/>
          </a:prstGeom>
          <a:noFill/>
          <a:ln>
            <a:noFill/>
          </a:ln>
        </p:spPr>
        <p:txBody>
          <a:bodyPr wrap="square" lIns="0" tIns="0" rIns="0" bIns="0" anchor="ctr" rtlCol="0">
            <a:noAutofit/>
          </a:bodyPr>
          <a:lstStyle/>
          <a:p>
            <a:pPr algn="l" marL="0" indent="0">
              <a:lnSpc>
                <a:spcPct val="102000"/>
              </a:lnSpc>
              <a:spcBef>
                <a:spcPts val="0"/>
              </a:spcBef>
              <a:spcAft>
                <a:spcPts val="0"/>
              </a:spcAft>
              <a:buNone/>
            </a:pPr>
            <a:r>
              <a:rPr lang="en-GB" sz="2800" b="0" dirty="0">
                <a:solidFill>
                  <a:srgbClr val="0B1F3A"/>
                </a:solidFill>
                <a:latin typeface="Georgia"/>
                <a:cs typeface="Georgia"/>
              </a:rPr>
              <a:t>Build an automatic ED alert on the e-observations system: a NEWS2 of 7 or more with an 'infection suspected' tick opens a sepsis order set with a pre-filled antibiotic and a 60-minute countdown on the tracking board.</a:t>
            </a:r>
            <a:endParaRPr lang="en-GB" sz="2800" dirty="0"/>
          </a:p>
        </p:txBody>
      </p:sp>
      <p:sp>
        <p:nvSpPr>
          <p:cNvPr id="5" name="Text 5"/>
          <p:cNvSpPr txBox="1"/>
          <p:nvPr/>
        </p:nvSpPr>
        <p:spPr>
          <a:xfrm>
            <a:off x="822960" y="4846320"/>
            <a:ext cx="27432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B8924A"/>
                </a:solidFill>
                <a:latin typeface="Calibri"/>
                <a:cs typeface="Calibri"/>
              </a:rPr>
              <a:t>RE-AUDIT</a:t>
            </a:r>
            <a:endParaRPr lang="en-GB" sz="1100" dirty="0"/>
          </a:p>
        </p:txBody>
      </p:sp>
      <p:sp>
        <p:nvSpPr>
          <p:cNvPr id="6" name="Text 6"/>
          <p:cNvSpPr txBox="1"/>
          <p:nvPr/>
        </p:nvSpPr>
        <p:spPr>
          <a:xfrm>
            <a:off x="822960" y="5120640"/>
            <a:ext cx="9326880" cy="82296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400" b="0" dirty="0">
                <a:solidFill>
                  <a:srgbClr val="44506A"/>
                </a:solidFill>
                <a:latin typeface="Calibri"/>
                <a:cs typeface="Calibri"/>
              </a:rPr>
              <a:t>Weeks 13–14: next 40 consecutive eligible attendances, same template.</a:t>
            </a:r>
            <a:endParaRPr lang="en-GB"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8</a:t>
            </a:r>
            <a:endParaRPr lang="en-GB" sz="1000" dirty="0"/>
          </a:p>
        </p:txBody>
      </p:sp>
      <p:sp>
        <p:nvSpPr>
          <p:cNvPr id="3" name="Text 3"/>
          <p:cNvSpPr txBox="1"/>
          <p:nvPr/>
        </p:nvSpPr>
        <p:spPr>
          <a:xfrm>
            <a:off x="822960" y="685800"/>
            <a:ext cx="8229600" cy="2743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100" b="1" spc="200" dirty="0">
                <a:solidFill>
                  <a:srgbClr val="9AA5B8"/>
                </a:solidFill>
                <a:latin typeface="Calibri"/>
                <a:cs typeface="Calibri"/>
              </a:rPr>
              <a:t>WHAT I AM ASKING</a:t>
            </a:r>
            <a:endParaRPr lang="en-GB" sz="1100" dirty="0"/>
          </a:p>
        </p:txBody>
      </p:sp>
      <p:sp>
        <p:nvSpPr>
          <p:cNvPr id="4" name="Text 4"/>
          <p:cNvSpPr txBox="1"/>
          <p:nvPr/>
        </p:nvSpPr>
        <p:spPr>
          <a:xfrm>
            <a:off x="822960" y="1444752"/>
            <a:ext cx="64008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4200" b="0" dirty="0">
                <a:solidFill>
                  <a:srgbClr val="B8924A"/>
                </a:solidFill>
                <a:latin typeface="Georgia"/>
                <a:cs typeface="Georgia"/>
              </a:rPr>
              <a:t>1</a:t>
            </a:r>
            <a:endParaRPr lang="en-GB" sz="4200" dirty="0"/>
          </a:p>
        </p:txBody>
      </p:sp>
      <p:sp>
        <p:nvSpPr>
          <p:cNvPr id="5" name="Text 5"/>
          <p:cNvSpPr txBox="1"/>
          <p:nvPr/>
        </p:nvSpPr>
        <p:spPr>
          <a:xfrm>
            <a:off x="1645920" y="1554480"/>
            <a:ext cx="969264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2600" b="0" dirty="0">
                <a:solidFill>
                  <a:srgbClr val="FFFFFF"/>
                </a:solidFill>
                <a:latin typeface="Calibri"/>
                <a:cs typeface="Calibri"/>
              </a:rPr>
              <a:t>Agree the standard, target and sample</a:t>
            </a:r>
            <a:endParaRPr lang="en-GB" sz="2600" dirty="0"/>
          </a:p>
        </p:txBody>
      </p:sp>
      <p:sp>
        <p:nvSpPr>
          <p:cNvPr id="6" name="Text 6"/>
          <p:cNvSpPr txBox="1"/>
          <p:nvPr/>
        </p:nvSpPr>
        <p:spPr>
          <a:xfrm>
            <a:off x="822960" y="2679192"/>
            <a:ext cx="64008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4200" b="0" dirty="0">
                <a:solidFill>
                  <a:srgbClr val="B8924A"/>
                </a:solidFill>
                <a:latin typeface="Georgia"/>
                <a:cs typeface="Georgia"/>
              </a:rPr>
              <a:t>2</a:t>
            </a:r>
            <a:endParaRPr lang="en-GB" sz="4200" dirty="0"/>
          </a:p>
        </p:txBody>
      </p:sp>
      <p:sp>
        <p:nvSpPr>
          <p:cNvPr id="7" name="Text 7"/>
          <p:cNvSpPr txBox="1"/>
          <p:nvPr/>
        </p:nvSpPr>
        <p:spPr>
          <a:xfrm>
            <a:off x="1645920" y="2788920"/>
            <a:ext cx="969264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2600" b="0" dirty="0">
                <a:solidFill>
                  <a:srgbClr val="FFFFFF"/>
                </a:solidFill>
                <a:latin typeface="Calibri"/>
                <a:cs typeface="Calibri"/>
              </a:rPr>
              <a:t>Supervise the audit and sign off the protocol</a:t>
            </a:r>
            <a:endParaRPr lang="en-GB" sz="2600" dirty="0"/>
          </a:p>
        </p:txBody>
      </p:sp>
      <p:sp>
        <p:nvSpPr>
          <p:cNvPr id="8" name="Text 8"/>
          <p:cNvSpPr txBox="1"/>
          <p:nvPr/>
        </p:nvSpPr>
        <p:spPr>
          <a:xfrm>
            <a:off x="822960" y="3913632"/>
            <a:ext cx="64008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4200" b="0" dirty="0">
                <a:solidFill>
                  <a:srgbClr val="B8924A"/>
                </a:solidFill>
                <a:latin typeface="Georgia"/>
                <a:cs typeface="Georgia"/>
              </a:rPr>
              <a:t>3</a:t>
            </a:r>
            <a:endParaRPr lang="en-GB" sz="4200" dirty="0"/>
          </a:p>
        </p:txBody>
      </p:sp>
      <p:sp>
        <p:nvSpPr>
          <p:cNvPr id="9" name="Text 9"/>
          <p:cNvSpPr txBox="1"/>
          <p:nvPr/>
        </p:nvSpPr>
        <p:spPr>
          <a:xfrm>
            <a:off x="1645920" y="4023360"/>
            <a:ext cx="9692640" cy="73152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2600" b="0" dirty="0">
                <a:solidFill>
                  <a:srgbClr val="FFFFFF"/>
                </a:solidFill>
                <a:latin typeface="Calibri"/>
                <a:cs typeface="Calibri"/>
              </a:rPr>
              <a:t>Help register it with the clinical audit department</a:t>
            </a:r>
            <a:endParaRPr lang="en-GB" sz="2600" dirty="0"/>
          </a:p>
        </p:txBody>
      </p:sp>
      <p:sp>
        <p:nvSpPr>
          <p:cNvPr id="10" name="Text 10"/>
          <p:cNvSpPr txBox="1"/>
          <p:nvPr/>
        </p:nvSpPr>
        <p:spPr>
          <a:xfrm>
            <a:off x="822960" y="5669280"/>
            <a:ext cx="9144000" cy="32004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1300" b="0" dirty="0">
                <a:solidFill>
                  <a:srgbClr val="9AA5B8"/>
                </a:solidFill>
                <a:latin typeface="Calibri"/>
                <a:cs typeface="Calibri"/>
              </a:rPr>
              <a:t>Alex Morgan  ·  alex.morgan@nhs.net</a:t>
            </a:r>
            <a:endParaRPr lang="en-GB"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10637215" y="6291072"/>
            <a:ext cx="731520" cy="274320"/>
          </a:xfrm>
          <a:prstGeom prst="rect">
            <a:avLst/>
          </a:prstGeom>
          <a:noFill/>
          <a:ln>
            <a:noFill/>
          </a:ln>
        </p:spPr>
        <p:txBody>
          <a:bodyPr wrap="square" lIns="0" tIns="0" rIns="0" bIns="0" anchor="b" rtlCol="0">
            <a:noAutofit/>
          </a:bodyPr>
          <a:lstStyle/>
          <a:p>
            <a:pPr algn="r" marL="0" indent="0">
              <a:lnSpc>
                <a:spcPct val="100000"/>
              </a:lnSpc>
              <a:spcBef>
                <a:spcPts val="0"/>
              </a:spcBef>
              <a:spcAft>
                <a:spcPts val="0"/>
              </a:spcAft>
              <a:buNone/>
            </a:pPr>
            <a:r>
              <a:rPr lang="en-GB" sz="1000" b="0" dirty="0">
                <a:solidFill>
                  <a:srgbClr val="9AA5B8"/>
                </a:solidFill>
                <a:latin typeface="Calibri"/>
                <a:cs typeface="Calibri"/>
              </a:rPr>
              <a:t>9</a:t>
            </a:r>
            <a:endParaRPr lang="en-GB" sz="1000" dirty="0"/>
          </a:p>
        </p:txBody>
      </p:sp>
      <p:sp>
        <p:nvSpPr>
          <p:cNvPr id="3" name="Text 3"/>
          <p:cNvSpPr txBox="1"/>
          <p:nvPr/>
        </p:nvSpPr>
        <p:spPr>
          <a:xfrm>
            <a:off x="822960" y="640080"/>
            <a:ext cx="7315200" cy="640080"/>
          </a:xfrm>
          <a:prstGeom prst="rect">
            <a:avLst/>
          </a:prstGeom>
          <a:noFill/>
          <a:ln>
            <a:noFill/>
          </a:ln>
        </p:spPr>
        <p:txBody>
          <a:bodyPr wrap="square" lIns="0" tIns="0" rIns="0" bIns="0" anchor="t" rtlCol="0">
            <a:noAutofit/>
          </a:bodyPr>
          <a:lstStyle/>
          <a:p>
            <a:pPr algn="l" marL="0" indent="0">
              <a:lnSpc>
                <a:spcPct val="100000"/>
              </a:lnSpc>
              <a:spcBef>
                <a:spcPts val="0"/>
              </a:spcBef>
              <a:spcAft>
                <a:spcPts val="0"/>
              </a:spcAft>
              <a:buNone/>
            </a:pPr>
            <a:r>
              <a:rPr lang="en-GB" sz="2400" b="0" dirty="0">
                <a:solidFill>
                  <a:srgbClr val="0B1F3A"/>
                </a:solidFill>
                <a:latin typeface="Georgia"/>
                <a:cs typeface="Georgia"/>
              </a:rPr>
              <a:t>References</a:t>
            </a:r>
            <a:endParaRPr lang="en-GB" sz="2400" dirty="0"/>
          </a:p>
        </p:txBody>
      </p:sp>
      <p:sp>
        <p:nvSpPr>
          <p:cNvPr id="4" name="Text 4"/>
          <p:cNvSpPr txBox="1"/>
          <p:nvPr/>
        </p:nvSpPr>
        <p:spPr>
          <a:xfrm>
            <a:off x="822960" y="1554480"/>
            <a:ext cx="8436620" cy="4206240"/>
          </a:xfrm>
          <a:prstGeom prst="rect">
            <a:avLst/>
          </a:prstGeom>
          <a:noFill/>
          <a:ln>
            <a:noFill/>
          </a:ln>
        </p:spPr>
        <p:txBody>
          <a:bodyPr wrap="square" lIns="0" tIns="0" rIns="0" bIns="0" anchor="t" rtlCol="0">
            <a:noAutofit/>
          </a:bodyPr>
          <a:lstStyle/>
          <a:p>
            <a:pPr algn="l" marL="0" indent="0">
              <a:lnSpc>
                <a:spcPct val="105000"/>
              </a:lnSpc>
              <a:spcBef>
                <a:spcPts val="0"/>
              </a:spcBef>
              <a:spcAft>
                <a:spcPts val="1040"/>
              </a:spcAft>
              <a:buNone/>
            </a:pPr>
            <a:r>
              <a:rPr lang="en-GB" sz="1300" b="0" dirty="0">
                <a:solidFill>
                  <a:srgbClr val="44506A"/>
                </a:solidFill>
                <a:latin typeface="Calibri"/>
                <a:cs typeface="Calibri"/>
              </a:rPr>
              <a:t>Standard: NICE NG253 rec 1.8.3 (November 2025, updated September 2026). https://www.nice.org.uk/guidance/ng253/chapter/Managing-suspected-sepsis</a:t>
            </a:r>
            <a:endParaRPr lang="en-GB" sz="1300" dirty="0"/>
          </a:p>
          <a:p>
            <a:pPr algn="l" marL="0" indent="0">
              <a:lnSpc>
                <a:spcPct val="105000"/>
              </a:lnSpc>
              <a:spcBef>
                <a:spcPts val="0"/>
              </a:spcBef>
              <a:spcAft>
                <a:spcPts val="1040"/>
              </a:spcAft>
              <a:buNone/>
            </a:pPr>
            <a:r>
              <a:rPr lang="en-GB" sz="1300" b="0" dirty="0">
                <a:solidFill>
                  <a:srgbClr val="44506A"/>
                </a:solidFill>
                <a:latin typeface="Calibri"/>
                <a:cs typeface="Calibri"/>
              </a:rPr>
              <a:t>[3007] paediatric severe sepsis: antibiotics within 1 hour 42% at baseline (no standard met)</a:t>
            </a:r>
            <a:endParaRPr lang="en-GB" sz="1300" dirty="0"/>
          </a:p>
          <a:p>
            <a:pPr algn="l" marL="0" indent="0">
              <a:lnSpc>
                <a:spcPct val="105000"/>
              </a:lnSpc>
              <a:spcBef>
                <a:spcPts val="0"/>
              </a:spcBef>
              <a:spcAft>
                <a:spcPts val="1040"/>
              </a:spcAft>
              <a:buNone/>
            </a:pPr>
            <a:r>
              <a:rPr lang="en-GB" sz="1300" b="0" dirty="0">
                <a:solidFill>
                  <a:srgbClr val="44506A"/>
                </a:solidFill>
                <a:latin typeface="Calibri"/>
                <a:cs typeface="Calibri"/>
              </a:rPr>
              <a:t>[1847] delirium: compulsory electronic screen raised completion 3% → 87% (system change beats teaching)</a:t>
            </a:r>
            <a:endParaRPr lang="en-GB" sz="1300" dirty="0"/>
          </a:p>
          <a:p>
            <a:pPr algn="l" marL="0" indent="0">
              <a:lnSpc>
                <a:spcPct val="105000"/>
              </a:lnSpc>
              <a:spcBef>
                <a:spcPts val="0"/>
              </a:spcBef>
              <a:spcAft>
                <a:spcPts val="1040"/>
              </a:spcAft>
              <a:buNone/>
            </a:pPr>
            <a:r>
              <a:rPr lang="en-GB" sz="1300" b="0" dirty="0">
                <a:solidFill>
                  <a:srgbClr val="44506A"/>
                </a:solidFill>
                <a:latin typeface="Calibri"/>
                <a:cs typeface="Calibri"/>
              </a:rPr>
              <a:t>[1358] ED VTE assessment: electronic discharge prompt 32% → 93.1% (electronic prompt)</a:t>
            </a:r>
            <a:endParaRPr lang="en-GB" sz="1300" dirty="0"/>
          </a:p>
        </p:txBody>
      </p:sp>
      <p:sp>
        <p:nvSpPr>
          <p:cNvPr id="5" name="Text 5"/>
          <p:cNvSpPr txBox="1"/>
          <p:nvPr/>
        </p:nvSpPr>
        <p:spPr>
          <a:xfrm>
            <a:off x="822960" y="6291072"/>
            <a:ext cx="8229600" cy="274320"/>
          </a:xfrm>
          <a:prstGeom prst="rect">
            <a:avLst/>
          </a:prstGeom>
          <a:noFill/>
          <a:ln>
            <a:noFill/>
          </a:ln>
        </p:spPr>
        <p:txBody>
          <a:bodyPr wrap="square" lIns="0" tIns="0" rIns="0" bIns="0" anchor="b" rtlCol="0">
            <a:noAutofit/>
          </a:bodyPr>
          <a:lstStyle/>
          <a:p>
            <a:pPr algn="l" marL="0" indent="0">
              <a:lnSpc>
                <a:spcPct val="100000"/>
              </a:lnSpc>
              <a:spcBef>
                <a:spcPts val="0"/>
              </a:spcBef>
              <a:spcAft>
                <a:spcPts val="0"/>
              </a:spcAft>
              <a:buNone/>
            </a:pPr>
            <a:r>
              <a:rPr lang="en-GB" sz="1000" b="0" dirty="0">
                <a:solidFill>
                  <a:srgbClr val="9AA5B8"/>
                </a:solidFill>
                <a:latin typeface="Calibri"/>
                <a:cs typeface="Calibri"/>
              </a:rPr>
              <a:t>Prepared with Ai4Qi  ·  29 Sep 2026</a:t>
            </a:r>
            <a:endParaRPr lang="en-GB" sz="1000" dirty="0"/>
          </a:p>
        </p:txBody>
      </p:sp>
    </p:spTree>
  </p:cSld>
  <p:clrMapOvr>
    <a:masterClrMapping/>
  </p:clrMapOvr>
</p:sld>
</file>

<file path=ppt/theme/theme1.xml><?xml version="1.0" encoding="utf-8"?>
<a:theme xmlns:a="http://schemas.openxmlformats.org/drawingml/2006/main" name="Ai4Qi">
  <a:themeElements>
    <a:clrScheme name="Ai4Qi">
      <a:dk1>
        <a:srgbClr val="0B1F3A"/>
      </a:dk1>
      <a:lt1>
        <a:srgbClr val="FFFFFF"/>
      </a:lt1>
      <a:dk2>
        <a:srgbClr val="44506A"/>
      </a:dk2>
      <a:lt2>
        <a:srgbClr val="E4E6EB"/>
      </a:lt2>
      <a:accent1>
        <a:srgbClr val="B8924A"/>
      </a:accent1>
      <a:accent2>
        <a:srgbClr val="9AA5B8"/>
      </a:accent2>
      <a:accent3>
        <a:srgbClr val="0B1F3A"/>
      </a:accent3>
      <a:accent4>
        <a:srgbClr val="44506A"/>
      </a:accent4>
      <a:accent5>
        <a:srgbClr val="1E3556"/>
      </a:accent5>
      <a:accent6>
        <a:srgbClr val="2E7D5B"/>
      </a:accent6>
      <a:hlink>
        <a:srgbClr val="0B1F3A"/>
      </a:hlink>
      <a:folHlink>
        <a:srgbClr val="44506A"/>
      </a:folHlink>
    </a:clrScheme>
    <a:fontScheme name="Ai4Qi">
      <a:majorFont>
        <a:latin typeface="Georgia"/>
        <a:ea typeface=""/>
        <a:cs typeface=""/>
      </a:majorFont>
      <a:minorFont>
        <a:latin typeface="Calibri"/>
        <a:ea typeface=""/>
        <a:cs typeface=""/>
      </a:minorFont>
    </a:fontScheme>
    <a:fmtScheme name="Ai4Qi">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Ai4Qi Notes">
  <a:themeElements>
    <a:clrScheme name="Ai4Qi">
      <a:dk1>
        <a:srgbClr val="0B1F3A"/>
      </a:dk1>
      <a:lt1>
        <a:srgbClr val="FFFFFF"/>
      </a:lt1>
      <a:dk2>
        <a:srgbClr val="44506A"/>
      </a:dk2>
      <a:lt2>
        <a:srgbClr val="E4E6EB"/>
      </a:lt2>
      <a:accent1>
        <a:srgbClr val="B8924A"/>
      </a:accent1>
      <a:accent2>
        <a:srgbClr val="9AA5B8"/>
      </a:accent2>
      <a:accent3>
        <a:srgbClr val="0B1F3A"/>
      </a:accent3>
      <a:accent4>
        <a:srgbClr val="44506A"/>
      </a:accent4>
      <a:accent5>
        <a:srgbClr val="1E3556"/>
      </a:accent5>
      <a:accent6>
        <a:srgbClr val="2E7D5B"/>
      </a:accent6>
      <a:hlink>
        <a:srgbClr val="0B1F3A"/>
      </a:hlink>
      <a:folHlink>
        <a:srgbClr val="44506A"/>
      </a:folHlink>
    </a:clrScheme>
    <a:fontScheme name="Ai4Qi">
      <a:majorFont>
        <a:latin typeface="Georgia"/>
        <a:ea typeface=""/>
        <a:cs typeface=""/>
      </a:majorFont>
      <a:minorFont>
        <a:latin typeface="Calibri"/>
        <a:ea typeface=""/>
        <a:cs typeface=""/>
      </a:minorFont>
    </a:fontScheme>
    <a:fmtScheme name="Ai4Qi">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Ai4Qi</Application>
  <Slides>9</Slides>
  <Notes>9</Notes>
  <PresentationFormat>Widescreen</PresentationFormat>
  <Company>Ai4Qi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proposal: What proportion of adults at high risk from sepsis (NEWS2 7 or more with suspected infection) receive IV antibiotics within 1 hour of their first ED NEWS2 score?</dc:title>
  <dc:creator>Ai4Qi</dc:creator>
  <cp:lastModifiedBy>Ai4Qi</cp:lastModifiedBy>
  <dcterms:created xsi:type="dcterms:W3CDTF">2026-09-29T08:37:12Z</dcterms:created>
  <dcterms:modified xsi:type="dcterms:W3CDTF">2026-09-29T08:37:12Z</dcterms:modified>
</cp:coreProperties>
</file>
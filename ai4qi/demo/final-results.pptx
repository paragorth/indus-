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theme" Target="theme/theme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85800" y="1143000"/>
            <a:ext cx="5486400" cy="3086100"/>
          </a:xfrm>
          <a:prstGeom prst="rect">
            <a:avLst/>
          </a:prstGeom>
          <a:noFill/>
          <a:ln w="12700">
            <a:solidFill>
              <a:srgbClr val="9AA5B8"/>
            </a:solidFill>
          </a:ln>
        </p:spPr>
      </p:sp>
      <p:sp>
        <p:nvSpPr>
          <p:cNvPr id="3" name="Notes Placeholder 2"/>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Notes</a:t>
            </a: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What proportion of adults at high risk from sepsis (NEWS2 7 or more with suspected infection) receive IV antibiotics within 1 hour of their first ED NEWS2 score?</a:t>
            </a:r>
          </a:p>
          <a:p>
            <a:r>
              <a:rPr lang="en-GB" dirty="0"/>
              <a:t>Presented by: Riverside General Hospital (fictional)  ·  Emergency Department  ·  Dr Alex Morgan, CT1</a:t>
            </a:r>
          </a:p>
          <a:p>
            <a:r>
              <a:rPr lang="en-GB" dirty="0"/>
              <a:t>Team: Sepsis nurse lead; EPR analyst</a:t>
            </a:r>
          </a:p>
          <a:p>
            <a:r>
              <a:rPr lang="en-GB" dirty="0"/>
              <a:t>Supervisor: ED consultant (sepsis lead)</a:t>
            </a:r>
          </a:p>
          <a:p>
            <a:r>
              <a:rPr lang="en-GB" dirty="0"/>
              <a:t>Audit reference: NNA-074</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NG253 (2025, updated 2026) fixes time zero as the first ED NEWS2 score. Library sepsis audits used older bundles and screening tools [3007][2618]; none measures the 1-hour limit from the NEWS2 time stamp.</a:t>
            </a:r>
          </a:p>
          <a:p>
            <a:r>
              <a:rPr lang="en-GB" dirty="0"/>
              <a:t>Audit question: What proportion of adults at high risk from sepsis (NEWS2 7 or more with suspected infection) receive IV antibiotics within 1 hour of their first ED NEWS2 score?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Standard: Give people aged 16 or over who are at high risk of severe illness or death from sepsis broad-spectrum intravenous antibiotic treatment, within 1 hour of calculating the person's NEWS2 score on initial assessment in the emergency department or on ward deterioration. Only give antibiotics if they have not been given before for this episode of sepsis (see recommendations 1.7.7 and 1.7.8 on managing the condition while awaiting transfer).</a:t>
            </a:r>
          </a:p>
          <a:p>
            <a:r>
              <a:rPr lang="en-GB" dirty="0"/>
              <a:t>Source: NICE NG253 rec 1.8.3 (November 2025, updated September 2026)</a:t>
            </a:r>
          </a:p>
          <a:p>
            <a:r>
              <a:rPr lang="en-GB" dirty="0"/>
              <a:t>Link: https://www.nice.org.uk/guidance/ng253/chapter/Managing-suspected-sepsis</a:t>
            </a:r>
          </a:p>
          <a:p>
            <a:r>
              <a:rPr lang="en-GB" dirty="0"/>
              <a:t>Target: ≥90%</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Population: Adults 16 or over with suspected or confirmed infection and a first ED NEWS2 of 7 or more. Exclude end-of-life care plans and patients who left before treatment.</a:t>
            </a:r>
          </a:p>
          <a:p>
            <a:r>
              <a:rPr lang="en-GB" dirty="0"/>
              <a:t>Sample: 40 consecutive eligible ED attendances over the last 2 months.</a:t>
            </a:r>
          </a:p>
          <a:p>
            <a:r>
              <a:rPr lang="en-GB" dirty="0"/>
              <a:t>Data source: ED system or e-observations for first NEWS2 time; EPMA or drug chart for antibiotic administration time; ambulance record for pre-hospital antibiotics.</a:t>
            </a:r>
          </a:p>
          <a:p>
            <a:r>
              <a:rPr lang="en-GB" dirty="0"/>
              <a:t>Pass definition: First IV antibiotic dose recorded as given on the drug chart within 60 minutes of the first ED NEWS2 time; or pre-hospital antibiotics already given for this episode.</a:t>
            </a:r>
          </a:p>
          <a:p>
            <a:r>
              <a:rPr lang="en-GB" dirty="0"/>
              <a:t>Cycle 1: 40 records audited, 1 Apr 2026 – 29 May 2026.</a:t>
            </a:r>
          </a:p>
          <a:p>
            <a:r>
              <a:rPr lang="en-GB" dirty="0"/>
              <a:t>Re-audit: 40 records audited.</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Fewer than three in five met the standard.</a:t>
            </a:r>
          </a:p>
          <a:p>
            <a:r>
              <a:rPr lang="en-GB" dirty="0"/>
              <a:t>Cycle 1: 23 of 40 (57.5%) met the standard; records audited: 40.</a:t>
            </a:r>
          </a:p>
          <a:p>
            <a:r>
              <a:rPr lang="en-GB" dirty="0"/>
              <a:t>Target: ≥90% — not met.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Reason for delay — Cycle 1: not recognised as sepsis 8, prescribing delay 4, no IV access 3, awaiting senior review 2; Re-audit: not recognised as sepsis 1, no IV access 1, prescribing delay 1.</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Change made: ED e-observations alert: NEWS2 of 7 or more with "infection suspected" opens the sepsis order set with a pre-filled antibiotic and a 60-minute countdown on the tracking board.</a:t>
            </a:r>
          </a:p>
          <a:p>
            <a:r>
              <a:rPr lang="en-GB" dirty="0"/>
              <a:t>Introduced: 29 Jun 2026.</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Up 35 points, now above target.</a:t>
            </a:r>
          </a:p>
          <a:p>
            <a:r>
              <a:rPr lang="en-GB" dirty="0"/>
              <a:t>Cycle 1: 23 of 40 (57.5%), 40 records audited.</a:t>
            </a:r>
          </a:p>
          <a:p>
            <a:r>
              <a:rPr lang="en-GB" dirty="0"/>
              <a:t>Re-audit: 37 of 40 (92.5%), 40 records audited.</a:t>
            </a:r>
          </a:p>
          <a:p>
            <a:r>
              <a:rPr lang="en-GB" dirty="0"/>
              <a:t>Change: +35 percentage points.</a:t>
            </a:r>
          </a:p>
          <a:p>
            <a:r>
              <a:rPr lang="en-GB" dirty="0"/>
              <a:t>Target: ≥90%.</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Takeaways: Target reached — keep the change in place; Commonest cause in cycle 1: not recognised as sepsis (8); Present at ED governance and the Trust deteriorating patient group.</a:t>
            </a:r>
          </a:p>
          <a:p>
            <a:r>
              <a:rPr lang="en-GB" dirty="0"/>
              <a:t>Closing the loop: Present at ED governance and the Trust deteriorating patient group. If it works, keep the alert in the e-observations build and report monthly to the sepsis lead.</a:t>
            </a:r>
          </a:p>
          <a:p>
            <a:r>
              <a:rPr lang="en-GB" dirty="0"/>
              <a:t>Re-audit: Weeks 13–14: next 40 consecutive eligible attendances, same template.</a:t>
            </a:r>
          </a:p>
          <a:p>
            <a:r>
              <a:rPr lang="en-GB" dirty="0"/>
              <a:t>Largest single factor from "Reason for delay": not recognised as sepsis (8).</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Full reference list:</a:t>
            </a:r>
          </a:p>
          <a:p>
            <a:r>
              <a:rPr lang="en-GB" dirty="0"/>
              <a:t>Standard: NICE NG253 rec 1.8.3 (November 2025, updated September 2026). https://www.nice.org.uk/guidance/ng253/chapter/Managing-suspected-sepsis
[3007] paediatric severe sepsis: antibiotics within 1 hour 42% at baseline (no standard met)
[1847] delirium: compulsory electronic screen raised completion 3% → 87% (system change beats teaching)
[1358] ED VTE assessment: electronic discharge prompt 32% → 93.1% (electronic prompt)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defRPr sz="3200">
          <a:solidFill>
            <a:schemeClr val="tx1"/>
          </a:solidFill>
          <a:latin typeface="+mn-lt"/>
        </a:defRPr>
      </a:lvl1pPr>
    </p:titleStyle>
    <p:bodyStyle>
      <a:lvl1pPr>
        <a:defRPr sz="1800">
          <a:solidFill>
            <a:schemeClr val="tx1"/>
          </a:solidFill>
          <a:latin typeface="+mn-lt"/>
        </a:defRPr>
      </a:lvl1pPr>
    </p:bodyStyle>
    <p:otherStyle>
      <a:lvl1pPr>
        <a:defRPr sz="1800">
          <a:solidFill>
            <a:schemeClr val="tx1"/>
          </a:solidFill>
          <a:latin typeface="+mn-lt"/>
        </a:defRPr>
      </a:lvl1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logo.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www.nice.org.uk/guidance/ng253/chapter/Managing-suspected-sepsis" TargetMode="Externa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F3A"/>
        </a:solidFill>
        <a:effectLst/>
      </p:bgPr>
    </p:bg>
    <p:spTree>
      <p:nvGrpSpPr>
        <p:cNvPr id="1" name=""/>
        <p:cNvGrpSpPr/>
        <p:nvPr/>
      </p:nvGrpSpPr>
      <p:grpSpPr>
        <a:xfrm>
          <a:off x="0" y="0"/>
          <a:ext cx="0" cy="0"/>
          <a:chOff x="0" y="0"/>
          <a:chExt cx="0" cy="0"/>
        </a:xfrm>
      </p:grpSpPr>
      <p:sp>
        <p:nvSpPr>
          <p:cNvPr id="2" name="Text 2"/>
          <p:cNvSpPr txBox="1"/>
          <p:nvPr/>
        </p:nvSpPr>
        <p:spPr>
          <a:xfrm>
            <a:off x="822960" y="1417320"/>
            <a:ext cx="5486400" cy="274320"/>
          </a:xfrm>
          <a:prstGeom prst="rect">
            <a:avLst/>
          </a:prstGeom>
          <a:noFill/>
          <a:ln>
            <a:noFill/>
          </a:ln>
        </p:spPr>
        <p:txBody>
          <a:bodyPr wrap="square" lIns="0" tIns="0" rIns="0" bIns="0" anchor="t" rtlCol="0">
            <a:noAutofit/>
          </a:bodyPr>
          <a:lstStyle/>
          <a:p>
            <a:pPr algn="l" marL="0" indent="0">
              <a:lnSpc>
                <a:spcPct val="100000"/>
              </a:lnSpc>
              <a:spcBef>
                <a:spcPts val="0"/>
              </a:spcBef>
              <a:spcAft>
                <a:spcPts val="0"/>
              </a:spcAft>
              <a:buNone/>
            </a:pPr>
            <a:r>
              <a:rPr lang="en-GB" sz="1100" b="1" spc="300" dirty="0">
                <a:solidFill>
                  <a:srgbClr val="B8924A"/>
                </a:solidFill>
                <a:latin typeface="Calibri"/>
                <a:cs typeface="Calibri"/>
              </a:rPr>
              <a:t>CLINICAL AUDIT</a:t>
            </a:r>
            <a:endParaRPr lang="en-GB" sz="1100" dirty="0"/>
          </a:p>
        </p:txBody>
      </p:sp>
      <p:sp>
        <p:nvSpPr>
          <p:cNvPr id="3" name="Text 3"/>
          <p:cNvSpPr txBox="1"/>
          <p:nvPr/>
        </p:nvSpPr>
        <p:spPr>
          <a:xfrm>
            <a:off x="822960" y="1828800"/>
            <a:ext cx="9509760" cy="2377440"/>
          </a:xfrm>
          <a:prstGeom prst="rect">
            <a:avLst/>
          </a:prstGeom>
          <a:noFill/>
          <a:ln>
            <a:noFill/>
          </a:ln>
        </p:spPr>
        <p:txBody>
          <a:bodyPr wrap="square" lIns="0" tIns="0" rIns="0" bIns="0" anchor="t" rtlCol="0">
            <a:noAutofit/>
          </a:bodyPr>
          <a:lstStyle/>
          <a:p>
            <a:pPr algn="l" marL="0" indent="0">
              <a:lnSpc>
                <a:spcPct val="95000"/>
              </a:lnSpc>
              <a:spcBef>
                <a:spcPts val="0"/>
              </a:spcBef>
              <a:spcAft>
                <a:spcPts val="0"/>
              </a:spcAft>
              <a:buNone/>
            </a:pPr>
            <a:r>
              <a:rPr lang="en-GB" sz="3000" b="0" dirty="0">
                <a:solidFill>
                  <a:srgbClr val="FFFFFF"/>
                </a:solidFill>
                <a:latin typeface="Georgia"/>
                <a:cs typeface="Georgia"/>
              </a:rPr>
              <a:t>What proportion of adults at high risk from sepsis (NEWS2 7 or more with suspected infection) receive IV antibiotics within 1 hour of their first ED NEWS2 score?</a:t>
            </a:r>
            <a:endParaRPr lang="en-GB" sz="3000" dirty="0"/>
          </a:p>
        </p:txBody>
      </p:sp>
      <p:sp>
        <p:nvSpPr>
          <p:cNvPr id="4" name="Text 4"/>
          <p:cNvSpPr txBox="1"/>
          <p:nvPr/>
        </p:nvSpPr>
        <p:spPr>
          <a:xfrm>
            <a:off x="822960" y="4434840"/>
            <a:ext cx="9509760" cy="411480"/>
          </a:xfrm>
          <a:prstGeom prst="rect">
            <a:avLst/>
          </a:prstGeom>
          <a:noFill/>
          <a:ln>
            <a:noFill/>
          </a:ln>
        </p:spPr>
        <p:txBody>
          <a:bodyPr wrap="square" lIns="0" tIns="0" rIns="0" bIns="0" anchor="t" rtlCol="0">
            <a:noAutofit/>
          </a:bodyPr>
          <a:lstStyle/>
          <a:p>
            <a:pPr algn="l" marL="0" indent="0">
              <a:lnSpc>
                <a:spcPct val="100000"/>
              </a:lnSpc>
              <a:spcBef>
                <a:spcPts val="0"/>
              </a:spcBef>
              <a:spcAft>
                <a:spcPts val="0"/>
              </a:spcAft>
              <a:buNone/>
            </a:pPr>
            <a:r>
              <a:rPr lang="en-GB" sz="1600" b="0" dirty="0">
                <a:solidFill>
                  <a:srgbClr val="9AA5B8"/>
                </a:solidFill>
                <a:latin typeface="Calibri"/>
                <a:cs typeface="Calibri"/>
              </a:rPr>
              <a:t>Riverside General Hospital (fictional)  ·  Emergency Department  ·  Dr Alex Morgan, CT1</a:t>
            </a:r>
            <a:endParaRPr lang="en-GB" sz="1600" dirty="0"/>
          </a:p>
        </p:txBody>
      </p:sp>
      <p:sp>
        <p:nvSpPr>
          <p:cNvPr id="5" name="Text 5"/>
          <p:cNvSpPr txBox="1"/>
          <p:nvPr/>
        </p:nvSpPr>
        <p:spPr>
          <a:xfrm>
            <a:off x="822960" y="4846320"/>
            <a:ext cx="5486400" cy="320040"/>
          </a:xfrm>
          <a:prstGeom prst="rect">
            <a:avLst/>
          </a:prstGeom>
          <a:noFill/>
          <a:ln>
            <a:noFill/>
          </a:ln>
        </p:spPr>
        <p:txBody>
          <a:bodyPr wrap="square" lIns="0" tIns="0" rIns="0" bIns="0" anchor="t" rtlCol="0">
            <a:noAutofit/>
          </a:bodyPr>
          <a:lstStyle/>
          <a:p>
            <a:pPr algn="l" marL="0" indent="0">
              <a:lnSpc>
                <a:spcPct val="100000"/>
              </a:lnSpc>
              <a:spcBef>
                <a:spcPts val="0"/>
              </a:spcBef>
              <a:spcAft>
                <a:spcPts val="0"/>
              </a:spcAft>
              <a:buNone/>
            </a:pPr>
            <a:r>
              <a:rPr lang="en-GB" sz="1200" b="0" dirty="0">
                <a:solidFill>
                  <a:srgbClr val="9AA5B8"/>
                </a:solidFill>
                <a:latin typeface="Calibri"/>
                <a:cs typeface="Calibri"/>
              </a:rPr>
              <a:t>28 Sep 2026</a:t>
            </a:r>
            <a:endParaRPr lang="en-GB" sz="1200" dirty="0"/>
          </a:p>
        </p:txBody>
      </p:sp>
      <p:pic>
        <p:nvPicPr>
          <p:cNvPr id="6" name="Logo" descr="Ai4Qi logo"/>
          <p:cNvPicPr>
            <a:picLocks noChangeAspect="1"/>
          </p:cNvPicPr>
          <p:nvPr/>
        </p:nvPicPr>
        <p:blipFill>
          <a:blip r:embed="rId2"/>
          <a:stretch>
            <a:fillRect/>
          </a:stretch>
        </p:blipFill>
        <p:spPr>
          <a:xfrm>
            <a:off x="822960" y="5806440"/>
            <a:ext cx="384048" cy="38404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10637215" y="6291072"/>
            <a:ext cx="731520" cy="274320"/>
          </a:xfrm>
          <a:prstGeom prst="rect">
            <a:avLst/>
          </a:prstGeom>
          <a:noFill/>
          <a:ln>
            <a:noFill/>
          </a:ln>
        </p:spPr>
        <p:txBody>
          <a:bodyPr wrap="square" lIns="0" tIns="0" rIns="0" bIns="0" anchor="b" rtlCol="0">
            <a:noAutofit/>
          </a:bodyPr>
          <a:lstStyle/>
          <a:p>
            <a:pPr algn="r" marL="0" indent="0">
              <a:lnSpc>
                <a:spcPct val="100000"/>
              </a:lnSpc>
              <a:spcBef>
                <a:spcPts val="0"/>
              </a:spcBef>
              <a:spcAft>
                <a:spcPts val="0"/>
              </a:spcAft>
              <a:buNone/>
            </a:pPr>
            <a:r>
              <a:rPr lang="en-GB" sz="1000" b="0" dirty="0">
                <a:solidFill>
                  <a:srgbClr val="9AA5B8"/>
                </a:solidFill>
                <a:latin typeface="Calibri"/>
                <a:cs typeface="Calibri"/>
              </a:rPr>
              <a:t>2</a:t>
            </a:r>
            <a:endParaRPr lang="en-GB" sz="1000" dirty="0"/>
          </a:p>
        </p:txBody>
      </p:sp>
      <p:sp>
        <p:nvSpPr>
          <p:cNvPr id="3" name="Text 3"/>
          <p:cNvSpPr txBox="1"/>
          <p:nvPr/>
        </p:nvSpPr>
        <p:spPr>
          <a:xfrm>
            <a:off x="822960" y="685800"/>
            <a:ext cx="7315200" cy="274320"/>
          </a:xfrm>
          <a:prstGeom prst="rect">
            <a:avLst/>
          </a:prstGeom>
          <a:noFill/>
          <a:ln>
            <a:noFill/>
          </a:ln>
        </p:spPr>
        <p:txBody>
          <a:bodyPr wrap="square" lIns="0" tIns="0" rIns="0" bIns="0" anchor="t" rtlCol="0">
            <a:noAutofit/>
          </a:bodyPr>
          <a:lstStyle/>
          <a:p>
            <a:pPr algn="l" marL="0" indent="0">
              <a:lnSpc>
                <a:spcPct val="100000"/>
              </a:lnSpc>
              <a:spcBef>
                <a:spcPts val="0"/>
              </a:spcBef>
              <a:spcAft>
                <a:spcPts val="0"/>
              </a:spcAft>
              <a:buNone/>
            </a:pPr>
            <a:r>
              <a:rPr lang="en-GB" sz="1100" b="1" spc="200" dirty="0">
                <a:solidFill>
                  <a:srgbClr val="44506A"/>
                </a:solidFill>
                <a:latin typeface="Calibri"/>
                <a:cs typeface="Calibri"/>
              </a:rPr>
              <a:t>WHY IT MATTERS</a:t>
            </a:r>
            <a:endParaRPr lang="en-GB" sz="1100" dirty="0"/>
          </a:p>
        </p:txBody>
      </p:sp>
      <p:sp>
        <p:nvSpPr>
          <p:cNvPr id="4" name="Text 4"/>
          <p:cNvSpPr txBox="1"/>
          <p:nvPr/>
        </p:nvSpPr>
        <p:spPr>
          <a:xfrm>
            <a:off x="822960" y="1371600"/>
            <a:ext cx="8778240" cy="3291840"/>
          </a:xfrm>
          <a:prstGeom prst="rect">
            <a:avLst/>
          </a:prstGeom>
          <a:noFill/>
          <a:ln>
            <a:noFill/>
          </a:ln>
        </p:spPr>
        <p:txBody>
          <a:bodyPr wrap="square" lIns="0" tIns="0" rIns="0" bIns="0" anchor="ctr" rtlCol="0">
            <a:noAutofit/>
          </a:bodyPr>
          <a:lstStyle/>
          <a:p>
            <a:pPr algn="l" marL="0" indent="0">
              <a:lnSpc>
                <a:spcPct val="100000"/>
              </a:lnSpc>
              <a:spcBef>
                <a:spcPts val="0"/>
              </a:spcBef>
              <a:spcAft>
                <a:spcPts val="0"/>
              </a:spcAft>
              <a:buNone/>
            </a:pPr>
            <a:r>
              <a:rPr lang="en-GB" sz="3400" b="0" dirty="0">
                <a:solidFill>
                  <a:srgbClr val="0B1F3A"/>
                </a:solidFill>
                <a:latin typeface="Georgia"/>
                <a:cs typeface="Georgia"/>
              </a:rPr>
              <a:t>NG253 (2025, updated 2026) fixes time zero as the first ED NEWS2 score.</a:t>
            </a:r>
            <a:endParaRPr lang="en-GB" sz="3400" dirty="0"/>
          </a:p>
        </p:txBody>
      </p:sp>
      <p:sp>
        <p:nvSpPr>
          <p:cNvPr id="5" name="Text 5"/>
          <p:cNvSpPr txBox="1"/>
          <p:nvPr/>
        </p:nvSpPr>
        <p:spPr>
          <a:xfrm>
            <a:off x="822960" y="5074920"/>
            <a:ext cx="2743200" cy="274320"/>
          </a:xfrm>
          <a:prstGeom prst="rect">
            <a:avLst/>
          </a:prstGeom>
          <a:noFill/>
          <a:ln>
            <a:noFill/>
          </a:ln>
        </p:spPr>
        <p:txBody>
          <a:bodyPr wrap="square" lIns="0" tIns="0" rIns="0" bIns="0" anchor="t" rtlCol="0">
            <a:noAutofit/>
          </a:bodyPr>
          <a:lstStyle/>
          <a:p>
            <a:pPr algn="l" marL="0" indent="0">
              <a:lnSpc>
                <a:spcPct val="100000"/>
              </a:lnSpc>
              <a:spcBef>
                <a:spcPts val="0"/>
              </a:spcBef>
              <a:spcAft>
                <a:spcPts val="0"/>
              </a:spcAft>
              <a:buNone/>
            </a:pPr>
            <a:r>
              <a:rPr lang="en-GB" sz="1100" b="1" dirty="0">
                <a:solidFill>
                  <a:srgbClr val="B8924A"/>
                </a:solidFill>
                <a:latin typeface="Calibri"/>
                <a:cs typeface="Calibri"/>
              </a:rPr>
              <a:t>The question</a:t>
            </a:r>
            <a:endParaRPr lang="en-GB" sz="1100" dirty="0"/>
          </a:p>
        </p:txBody>
      </p:sp>
      <p:sp>
        <p:nvSpPr>
          <p:cNvPr id="6" name="Text 6"/>
          <p:cNvSpPr txBox="1"/>
          <p:nvPr/>
        </p:nvSpPr>
        <p:spPr>
          <a:xfrm>
            <a:off x="822960" y="5349240"/>
            <a:ext cx="8778240" cy="685800"/>
          </a:xfrm>
          <a:prstGeom prst="rect">
            <a:avLst/>
          </a:prstGeom>
          <a:noFill/>
          <a:ln>
            <a:noFill/>
          </a:ln>
        </p:spPr>
        <p:txBody>
          <a:bodyPr wrap="square" lIns="0" tIns="0" rIns="0" bIns="0" anchor="t" rtlCol="0">
            <a:noAutofit/>
          </a:bodyPr>
          <a:lstStyle/>
          <a:p>
            <a:pPr algn="l" marL="0" indent="0">
              <a:lnSpc>
                <a:spcPct val="100000"/>
              </a:lnSpc>
              <a:spcBef>
                <a:spcPts val="0"/>
              </a:spcBef>
              <a:spcAft>
                <a:spcPts val="0"/>
              </a:spcAft>
              <a:buNone/>
            </a:pPr>
            <a:r>
              <a:rPr lang="en-GB" sz="1400" b="0" dirty="0">
                <a:solidFill>
                  <a:srgbClr val="44506A"/>
                </a:solidFill>
                <a:latin typeface="Calibri"/>
                <a:cs typeface="Calibri"/>
              </a:rPr>
              <a:t>What proportion of adults at high risk from sepsis (NEWS2 7 or more with suspected infection) receive IV antibiotics within 1 hour of their first ED NEWS2 score?</a:t>
            </a:r>
            <a:endParaRPr lang="en-GB"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10637215" y="6291072"/>
            <a:ext cx="731520" cy="274320"/>
          </a:xfrm>
          <a:prstGeom prst="rect">
            <a:avLst/>
          </a:prstGeom>
          <a:noFill/>
          <a:ln>
            <a:noFill/>
          </a:ln>
        </p:spPr>
        <p:txBody>
          <a:bodyPr wrap="square" lIns="0" tIns="0" rIns="0" bIns="0" anchor="b" rtlCol="0">
            <a:noAutofit/>
          </a:bodyPr>
          <a:lstStyle/>
          <a:p>
            <a:pPr algn="r" marL="0" indent="0">
              <a:lnSpc>
                <a:spcPct val="100000"/>
              </a:lnSpc>
              <a:spcBef>
                <a:spcPts val="0"/>
              </a:spcBef>
              <a:spcAft>
                <a:spcPts val="0"/>
              </a:spcAft>
              <a:buNone/>
            </a:pPr>
            <a:r>
              <a:rPr lang="en-GB" sz="1000" b="0" dirty="0">
                <a:solidFill>
                  <a:srgbClr val="9AA5B8"/>
                </a:solidFill>
                <a:latin typeface="Calibri"/>
                <a:cs typeface="Calibri"/>
              </a:rPr>
              <a:t>3</a:t>
            </a:r>
            <a:endParaRPr lang="en-GB" sz="1000" dirty="0"/>
          </a:p>
        </p:txBody>
      </p:sp>
      <p:sp>
        <p:nvSpPr>
          <p:cNvPr id="3" name="Text 3"/>
          <p:cNvSpPr txBox="1"/>
          <p:nvPr/>
        </p:nvSpPr>
        <p:spPr>
          <a:xfrm>
            <a:off x="822960" y="685800"/>
            <a:ext cx="7315200" cy="274320"/>
          </a:xfrm>
          <a:prstGeom prst="rect">
            <a:avLst/>
          </a:prstGeom>
          <a:noFill/>
          <a:ln>
            <a:noFill/>
          </a:ln>
        </p:spPr>
        <p:txBody>
          <a:bodyPr wrap="square" lIns="0" tIns="0" rIns="0" bIns="0" anchor="t" rtlCol="0">
            <a:noAutofit/>
          </a:bodyPr>
          <a:lstStyle/>
          <a:p>
            <a:pPr algn="l" marL="0" indent="0">
              <a:lnSpc>
                <a:spcPct val="100000"/>
              </a:lnSpc>
              <a:spcBef>
                <a:spcPts val="0"/>
              </a:spcBef>
              <a:spcAft>
                <a:spcPts val="0"/>
              </a:spcAft>
              <a:buNone/>
            </a:pPr>
            <a:r>
              <a:rPr lang="en-GB" sz="1100" b="1" spc="200" dirty="0">
                <a:solidFill>
                  <a:srgbClr val="44506A"/>
                </a:solidFill>
                <a:latin typeface="Calibri"/>
                <a:cs typeface="Calibri"/>
              </a:rPr>
              <a:t>THE STANDARD</a:t>
            </a:r>
            <a:endParaRPr lang="en-GB" sz="1100" dirty="0"/>
          </a:p>
        </p:txBody>
      </p:sp>
      <p:cxnSp>
        <p:nvCxnSpPr>
          <p:cNvPr id="4" name="Line 4"/>
          <p:cNvCxnSpPr/>
          <p:nvPr/>
        </p:nvCxnSpPr>
        <p:spPr>
          <a:xfrm>
            <a:off x="822960" y="1463040"/>
            <a:ext cx="0" cy="3017520"/>
          </a:xfrm>
          <a:prstGeom prst="line">
            <a:avLst/>
          </a:prstGeom>
          <a:ln w="15875" cap="rnd">
            <a:solidFill>
              <a:srgbClr val="B8924A"/>
            </a:solidFill>
          </a:ln>
        </p:spPr>
      </p:cxnSp>
      <p:sp>
        <p:nvSpPr>
          <p:cNvPr id="5" name="Text 5"/>
          <p:cNvSpPr txBox="1"/>
          <p:nvPr/>
        </p:nvSpPr>
        <p:spPr>
          <a:xfrm>
            <a:off x="1188720" y="1371600"/>
            <a:ext cx="7315200" cy="3200400"/>
          </a:xfrm>
          <a:prstGeom prst="rect">
            <a:avLst/>
          </a:prstGeom>
          <a:noFill/>
          <a:ln>
            <a:noFill/>
          </a:ln>
        </p:spPr>
        <p:txBody>
          <a:bodyPr wrap="square" lIns="0" tIns="0" rIns="0" bIns="0" anchor="ctr" rtlCol="0">
            <a:noAutofit/>
          </a:bodyPr>
          <a:lstStyle/>
          <a:p>
            <a:pPr algn="l" marL="0" indent="0">
              <a:lnSpc>
                <a:spcPct val="102000"/>
              </a:lnSpc>
              <a:spcBef>
                <a:spcPts val="0"/>
              </a:spcBef>
              <a:spcAft>
                <a:spcPts val="0"/>
              </a:spcAft>
              <a:buNone/>
            </a:pPr>
            <a:r>
              <a:rPr lang="en-GB" sz="2600" b="0" i="1" dirty="0">
                <a:solidFill>
                  <a:srgbClr val="0B1F3A"/>
                </a:solidFill>
                <a:latin typeface="Georgia"/>
                <a:cs typeface="Georgia"/>
              </a:rPr>
              <a:t>“Give people aged 16 or over who are at high risk of severe illness or death from sepsis broad-spectrum intravenous antibiotic treatment, within 1 hour of calculating the person's NEWS2 score on initial assessment in the emergency department or on…”</a:t>
            </a:r>
            <a:endParaRPr lang="en-GB" sz="2600" dirty="0"/>
          </a:p>
        </p:txBody>
      </p:sp>
      <p:sp>
        <p:nvSpPr>
          <p:cNvPr id="6" name="Text 6"/>
          <p:cNvSpPr txBox="1"/>
          <p:nvPr/>
        </p:nvSpPr>
        <p:spPr>
          <a:xfrm>
            <a:off x="1188720" y="4846320"/>
            <a:ext cx="7315200" cy="640080"/>
          </a:xfrm>
          <a:prstGeom prst="rect">
            <a:avLst/>
          </a:prstGeom>
          <a:noFill/>
          <a:ln>
            <a:noFill/>
          </a:ln>
        </p:spPr>
        <p:txBody>
          <a:bodyPr wrap="square" lIns="0" tIns="0" rIns="0" bIns="0" anchor="t" rtlCol="0">
            <a:noAutofit/>
          </a:bodyPr>
          <a:lstStyle/>
          <a:p>
            <a:pPr algn="l" marL="0" indent="0">
              <a:lnSpc>
                <a:spcPct val="100000"/>
              </a:lnSpc>
              <a:spcBef>
                <a:spcPts val="0"/>
              </a:spcBef>
              <a:spcAft>
                <a:spcPts val="0"/>
              </a:spcAft>
              <a:buNone/>
            </a:pPr>
            <a:r>
              <a:rPr lang="en-GB" sz="1200" b="0" dirty="0">
                <a:solidFill>
                  <a:srgbClr val="44506A"/>
                </a:solidFill>
                <a:latin typeface="Calibri"/>
                <a:cs typeface="Calibri"/>
              </a:rPr>
              <a:t>NICE NG253 rec 1.8.3 (November 2025, updated September 2026)</a:t>
            </a:r>
            <a:endParaRPr lang="en-GB" sz="1200" dirty="0"/>
          </a:p>
        </p:txBody>
      </p:sp>
      <p:sp>
        <p:nvSpPr>
          <p:cNvPr id="7" name="Text 7"/>
          <p:cNvSpPr txBox="1"/>
          <p:nvPr/>
        </p:nvSpPr>
        <p:spPr>
          <a:xfrm>
            <a:off x="1188720" y="5532120"/>
            <a:ext cx="7315200" cy="274320"/>
          </a:xfrm>
          <a:prstGeom prst="rect">
            <a:avLst/>
          </a:prstGeom>
          <a:noFill/>
          <a:ln>
            <a:noFill/>
          </a:ln>
        </p:spPr>
        <p:txBody>
          <a:bodyPr wrap="square" lIns="0" tIns="0" rIns="0" bIns="0" anchor="t" rtlCol="0">
            <a:noAutofit/>
          </a:bodyPr>
          <a:lstStyle/>
          <a:p>
            <a:pPr algn="l" marL="0" indent="0">
              <a:lnSpc>
                <a:spcPct val="100000"/>
              </a:lnSpc>
              <a:spcBef>
                <a:spcPts val="0"/>
              </a:spcBef>
              <a:spcAft>
                <a:spcPts val="0"/>
              </a:spcAft>
              <a:buNone/>
            </a:pPr>
            <a:r>
              <a:rPr lang="en-GB" sz="1000" b="0" u="sng" dirty="0">
                <a:solidFill>
                  <a:srgbClr val="9AA5B8"/>
                </a:solidFill>
                <a:latin typeface="Calibri"/>
                <a:cs typeface="Calibri"/>
                <a:hlinkClick r:id="rId2"/>
              </a:rPr>
              <a:t>https://www.nice.org.uk/guidance/ng253/chapter/Managing-suspected-sepsis</a:t>
            </a:r>
            <a:endParaRPr lang="en-GB" sz="1000" dirty="0"/>
          </a:p>
        </p:txBody>
      </p:sp>
      <p:sp>
        <p:nvSpPr>
          <p:cNvPr id="8" name="Text 8"/>
          <p:cNvSpPr txBox="1"/>
          <p:nvPr/>
        </p:nvSpPr>
        <p:spPr>
          <a:xfrm>
            <a:off x="8961120" y="1874520"/>
            <a:ext cx="2407615" cy="274320"/>
          </a:xfrm>
          <a:prstGeom prst="rect">
            <a:avLst/>
          </a:prstGeom>
          <a:noFill/>
          <a:ln>
            <a:noFill/>
          </a:ln>
        </p:spPr>
        <p:txBody>
          <a:bodyPr wrap="square" lIns="0" tIns="0" rIns="0" bIns="0" anchor="t" rtlCol="0">
            <a:noAutofit/>
          </a:bodyPr>
          <a:lstStyle/>
          <a:p>
            <a:pPr algn="l" marL="0" indent="0">
              <a:lnSpc>
                <a:spcPct val="100000"/>
              </a:lnSpc>
              <a:spcBef>
                <a:spcPts val="0"/>
              </a:spcBef>
              <a:spcAft>
                <a:spcPts val="0"/>
              </a:spcAft>
              <a:buNone/>
            </a:pPr>
            <a:r>
              <a:rPr lang="en-GB" sz="1100" b="1" spc="200" dirty="0">
                <a:solidFill>
                  <a:srgbClr val="44506A"/>
                </a:solidFill>
                <a:latin typeface="Calibri"/>
                <a:cs typeface="Calibri"/>
              </a:rPr>
              <a:t>Target</a:t>
            </a:r>
            <a:endParaRPr lang="en-GB" sz="1100" dirty="0"/>
          </a:p>
        </p:txBody>
      </p:sp>
      <p:sp>
        <p:nvSpPr>
          <p:cNvPr id="9" name="Text 9"/>
          <p:cNvSpPr txBox="1"/>
          <p:nvPr/>
        </p:nvSpPr>
        <p:spPr>
          <a:xfrm>
            <a:off x="8961120" y="2148840"/>
            <a:ext cx="2407615" cy="1188720"/>
          </a:xfrm>
          <a:prstGeom prst="rect">
            <a:avLst/>
          </a:prstGeom>
          <a:noFill/>
          <a:ln>
            <a:noFill/>
          </a:ln>
        </p:spPr>
        <p:txBody>
          <a:bodyPr wrap="square" lIns="0" tIns="0" rIns="0" bIns="0" anchor="t" rtlCol="0">
            <a:noAutofit/>
          </a:bodyPr>
          <a:lstStyle/>
          <a:p>
            <a:pPr algn="l" marL="0" indent="0">
              <a:lnSpc>
                <a:spcPct val="100000"/>
              </a:lnSpc>
              <a:spcBef>
                <a:spcPts val="0"/>
              </a:spcBef>
              <a:spcAft>
                <a:spcPts val="0"/>
              </a:spcAft>
              <a:buNone/>
            </a:pPr>
            <a:r>
              <a:rPr lang="en-GB" sz="7200" b="0" dirty="0">
                <a:solidFill>
                  <a:srgbClr val="B8924A"/>
                </a:solidFill>
                <a:latin typeface="Georgia"/>
                <a:cs typeface="Georgia"/>
              </a:rPr>
              <a:t>90%</a:t>
            </a:r>
            <a:endParaRPr lang="en-GB" sz="7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10637215" y="6291072"/>
            <a:ext cx="731520" cy="274320"/>
          </a:xfrm>
          <a:prstGeom prst="rect">
            <a:avLst/>
          </a:prstGeom>
          <a:noFill/>
          <a:ln>
            <a:noFill/>
          </a:ln>
        </p:spPr>
        <p:txBody>
          <a:bodyPr wrap="square" lIns="0" tIns="0" rIns="0" bIns="0" anchor="b" rtlCol="0">
            <a:noAutofit/>
          </a:bodyPr>
          <a:lstStyle/>
          <a:p>
            <a:pPr algn="r" marL="0" indent="0">
              <a:lnSpc>
                <a:spcPct val="100000"/>
              </a:lnSpc>
              <a:spcBef>
                <a:spcPts val="0"/>
              </a:spcBef>
              <a:spcAft>
                <a:spcPts val="0"/>
              </a:spcAft>
              <a:buNone/>
            </a:pPr>
            <a:r>
              <a:rPr lang="en-GB" sz="1000" b="0" dirty="0">
                <a:solidFill>
                  <a:srgbClr val="9AA5B8"/>
                </a:solidFill>
                <a:latin typeface="Calibri"/>
                <a:cs typeface="Calibri"/>
              </a:rPr>
              <a:t>4</a:t>
            </a:r>
            <a:endParaRPr lang="en-GB" sz="1000" dirty="0"/>
          </a:p>
        </p:txBody>
      </p:sp>
      <p:sp>
        <p:nvSpPr>
          <p:cNvPr id="3" name="Text 3"/>
          <p:cNvSpPr txBox="1"/>
          <p:nvPr/>
        </p:nvSpPr>
        <p:spPr>
          <a:xfrm>
            <a:off x="822960" y="640080"/>
            <a:ext cx="10545775" cy="914400"/>
          </a:xfrm>
          <a:prstGeom prst="rect">
            <a:avLst/>
          </a:prstGeom>
          <a:noFill/>
          <a:ln>
            <a:noFill/>
          </a:ln>
        </p:spPr>
        <p:txBody>
          <a:bodyPr wrap="square" lIns="0" tIns="0" rIns="0" bIns="0" anchor="t" rtlCol="0">
            <a:noAutofit/>
          </a:bodyPr>
          <a:lstStyle/>
          <a:p>
            <a:pPr algn="l" marL="0" indent="0">
              <a:lnSpc>
                <a:spcPct val="95000"/>
              </a:lnSpc>
              <a:spcBef>
                <a:spcPts val="0"/>
              </a:spcBef>
              <a:spcAft>
                <a:spcPts val="0"/>
              </a:spcAft>
              <a:buNone/>
            </a:pPr>
            <a:r>
              <a:rPr lang="en-GB" sz="3200" b="0" dirty="0">
                <a:solidFill>
                  <a:srgbClr val="0B1F3A"/>
                </a:solidFill>
                <a:latin typeface="Georgia"/>
                <a:cs typeface="Georgia"/>
              </a:rPr>
              <a:t>How we measured</a:t>
            </a:r>
            <a:endParaRPr lang="en-GB" sz="3200" dirty="0"/>
          </a:p>
        </p:txBody>
      </p:sp>
      <p:cxnSp>
        <p:nvCxnSpPr>
          <p:cNvPr id="4" name="Line 4"/>
          <p:cNvCxnSpPr/>
          <p:nvPr/>
        </p:nvCxnSpPr>
        <p:spPr>
          <a:xfrm>
            <a:off x="822960" y="1783080"/>
            <a:ext cx="10545775" cy="0"/>
          </a:xfrm>
          <a:prstGeom prst="line">
            <a:avLst/>
          </a:prstGeom>
          <a:ln w="9525" cap="rnd">
            <a:solidFill>
              <a:srgbClr val="E4E6EB"/>
            </a:solidFill>
          </a:ln>
        </p:spPr>
      </p:cxnSp>
      <p:cxnSp>
        <p:nvCxnSpPr>
          <p:cNvPr id="5" name="Line 5"/>
          <p:cNvCxnSpPr/>
          <p:nvPr/>
        </p:nvCxnSpPr>
        <p:spPr>
          <a:xfrm>
            <a:off x="822960" y="3794760"/>
            <a:ext cx="10545775" cy="0"/>
          </a:xfrm>
          <a:prstGeom prst="line">
            <a:avLst/>
          </a:prstGeom>
          <a:ln w="9525" cap="rnd">
            <a:solidFill>
              <a:srgbClr val="E4E6EB"/>
            </a:solidFill>
          </a:ln>
        </p:spPr>
      </p:cxnSp>
      <p:sp>
        <p:nvSpPr>
          <p:cNvPr id="6" name="Text 6"/>
          <p:cNvSpPr txBox="1"/>
          <p:nvPr/>
        </p:nvSpPr>
        <p:spPr>
          <a:xfrm>
            <a:off x="822960" y="1965960"/>
            <a:ext cx="5044288" cy="274320"/>
          </a:xfrm>
          <a:prstGeom prst="rect">
            <a:avLst/>
          </a:prstGeom>
          <a:noFill/>
          <a:ln>
            <a:noFill/>
          </a:ln>
        </p:spPr>
        <p:txBody>
          <a:bodyPr wrap="square" lIns="0" tIns="0" rIns="0" bIns="0" anchor="t" rtlCol="0">
            <a:noAutofit/>
          </a:bodyPr>
          <a:lstStyle/>
          <a:p>
            <a:pPr algn="l" marL="0" indent="0">
              <a:lnSpc>
                <a:spcPct val="100000"/>
              </a:lnSpc>
              <a:spcBef>
                <a:spcPts val="0"/>
              </a:spcBef>
              <a:spcAft>
                <a:spcPts val="0"/>
              </a:spcAft>
              <a:buNone/>
            </a:pPr>
            <a:r>
              <a:rPr lang="en-GB" sz="1100" b="1" spc="200" dirty="0">
                <a:solidFill>
                  <a:srgbClr val="B8924A"/>
                </a:solidFill>
                <a:latin typeface="Calibri"/>
                <a:cs typeface="Calibri"/>
              </a:rPr>
              <a:t>WHO</a:t>
            </a:r>
            <a:endParaRPr lang="en-GB" sz="1100" dirty="0"/>
          </a:p>
        </p:txBody>
      </p:sp>
      <p:sp>
        <p:nvSpPr>
          <p:cNvPr id="7" name="Text 7"/>
          <p:cNvSpPr txBox="1"/>
          <p:nvPr/>
        </p:nvSpPr>
        <p:spPr>
          <a:xfrm>
            <a:off x="822960" y="2331720"/>
            <a:ext cx="4769968" cy="1188720"/>
          </a:xfrm>
          <a:prstGeom prst="rect">
            <a:avLst/>
          </a:prstGeom>
          <a:noFill/>
          <a:ln>
            <a:noFill/>
          </a:ln>
        </p:spPr>
        <p:txBody>
          <a:bodyPr wrap="square" lIns="0" tIns="0" rIns="0" bIns="0" anchor="t" rtlCol="0">
            <a:noAutofit/>
          </a:bodyPr>
          <a:lstStyle/>
          <a:p>
            <a:pPr algn="l" marL="0" indent="0">
              <a:lnSpc>
                <a:spcPct val="105000"/>
              </a:lnSpc>
              <a:spcBef>
                <a:spcPts val="0"/>
              </a:spcBef>
              <a:spcAft>
                <a:spcPts val="0"/>
              </a:spcAft>
              <a:buNone/>
            </a:pPr>
            <a:r>
              <a:rPr lang="en-GB" sz="2200" b="0" dirty="0">
                <a:solidFill>
                  <a:srgbClr val="0B1F3A"/>
                </a:solidFill>
                <a:latin typeface="Calibri"/>
                <a:cs typeface="Calibri"/>
              </a:rPr>
              <a:t>Adults 16 or over with suspected or confirmed infection and a first…</a:t>
            </a:r>
            <a:endParaRPr lang="en-GB" sz="2200" dirty="0"/>
          </a:p>
        </p:txBody>
      </p:sp>
      <p:sp>
        <p:nvSpPr>
          <p:cNvPr id="8" name="Text 8"/>
          <p:cNvSpPr txBox="1"/>
          <p:nvPr/>
        </p:nvSpPr>
        <p:spPr>
          <a:xfrm>
            <a:off x="6324448" y="1965960"/>
            <a:ext cx="5044288" cy="274320"/>
          </a:xfrm>
          <a:prstGeom prst="rect">
            <a:avLst/>
          </a:prstGeom>
          <a:noFill/>
          <a:ln>
            <a:noFill/>
          </a:ln>
        </p:spPr>
        <p:txBody>
          <a:bodyPr wrap="square" lIns="0" tIns="0" rIns="0" bIns="0" anchor="t" rtlCol="0">
            <a:noAutofit/>
          </a:bodyPr>
          <a:lstStyle/>
          <a:p>
            <a:pPr algn="l" marL="0" indent="0">
              <a:lnSpc>
                <a:spcPct val="100000"/>
              </a:lnSpc>
              <a:spcBef>
                <a:spcPts val="0"/>
              </a:spcBef>
              <a:spcAft>
                <a:spcPts val="0"/>
              </a:spcAft>
              <a:buNone/>
            </a:pPr>
            <a:r>
              <a:rPr lang="en-GB" sz="1100" b="1" spc="200" dirty="0">
                <a:solidFill>
                  <a:srgbClr val="B8924A"/>
                </a:solidFill>
                <a:latin typeface="Calibri"/>
                <a:cs typeface="Calibri"/>
              </a:rPr>
              <a:t>HOW MANY</a:t>
            </a:r>
            <a:endParaRPr lang="en-GB" sz="1100" dirty="0"/>
          </a:p>
        </p:txBody>
      </p:sp>
      <p:sp>
        <p:nvSpPr>
          <p:cNvPr id="9" name="Text 9"/>
          <p:cNvSpPr txBox="1"/>
          <p:nvPr/>
        </p:nvSpPr>
        <p:spPr>
          <a:xfrm>
            <a:off x="6324448" y="2331720"/>
            <a:ext cx="4769968" cy="1188720"/>
          </a:xfrm>
          <a:prstGeom prst="rect">
            <a:avLst/>
          </a:prstGeom>
          <a:noFill/>
          <a:ln>
            <a:noFill/>
          </a:ln>
        </p:spPr>
        <p:txBody>
          <a:bodyPr wrap="square" lIns="0" tIns="0" rIns="0" bIns="0" anchor="t" rtlCol="0">
            <a:noAutofit/>
          </a:bodyPr>
          <a:lstStyle/>
          <a:p>
            <a:pPr algn="l" marL="0" indent="0">
              <a:lnSpc>
                <a:spcPct val="105000"/>
              </a:lnSpc>
              <a:spcBef>
                <a:spcPts val="0"/>
              </a:spcBef>
              <a:spcAft>
                <a:spcPts val="0"/>
              </a:spcAft>
              <a:buNone/>
            </a:pPr>
            <a:r>
              <a:rPr lang="en-GB" sz="2200" b="0" dirty="0">
                <a:solidFill>
                  <a:srgbClr val="0B1F3A"/>
                </a:solidFill>
                <a:latin typeface="Calibri"/>
                <a:cs typeface="Calibri"/>
              </a:rPr>
              <a:t>40 cases in cycle 1, 40 at re-audit</a:t>
            </a:r>
            <a:endParaRPr lang="en-GB" sz="2200" dirty="0"/>
          </a:p>
        </p:txBody>
      </p:sp>
      <p:sp>
        <p:nvSpPr>
          <p:cNvPr id="10" name="Text 10"/>
          <p:cNvSpPr txBox="1"/>
          <p:nvPr/>
        </p:nvSpPr>
        <p:spPr>
          <a:xfrm>
            <a:off x="822960" y="3977640"/>
            <a:ext cx="5044288" cy="274320"/>
          </a:xfrm>
          <a:prstGeom prst="rect">
            <a:avLst/>
          </a:prstGeom>
          <a:noFill/>
          <a:ln>
            <a:noFill/>
          </a:ln>
        </p:spPr>
        <p:txBody>
          <a:bodyPr wrap="square" lIns="0" tIns="0" rIns="0" bIns="0" anchor="t" rtlCol="0">
            <a:noAutofit/>
          </a:bodyPr>
          <a:lstStyle/>
          <a:p>
            <a:pPr algn="l" marL="0" indent="0">
              <a:lnSpc>
                <a:spcPct val="100000"/>
              </a:lnSpc>
              <a:spcBef>
                <a:spcPts val="0"/>
              </a:spcBef>
              <a:spcAft>
                <a:spcPts val="0"/>
              </a:spcAft>
              <a:buNone/>
            </a:pPr>
            <a:r>
              <a:rPr lang="en-GB" sz="1100" b="1" spc="200" dirty="0">
                <a:solidFill>
                  <a:srgbClr val="B8924A"/>
                </a:solidFill>
                <a:latin typeface="Calibri"/>
                <a:cs typeface="Calibri"/>
              </a:rPr>
              <a:t>WHERE FROM</a:t>
            </a:r>
            <a:endParaRPr lang="en-GB" sz="1100" dirty="0"/>
          </a:p>
        </p:txBody>
      </p:sp>
      <p:sp>
        <p:nvSpPr>
          <p:cNvPr id="11" name="Text 11"/>
          <p:cNvSpPr txBox="1"/>
          <p:nvPr/>
        </p:nvSpPr>
        <p:spPr>
          <a:xfrm>
            <a:off x="822960" y="4343400"/>
            <a:ext cx="4769968" cy="1188720"/>
          </a:xfrm>
          <a:prstGeom prst="rect">
            <a:avLst/>
          </a:prstGeom>
          <a:noFill/>
          <a:ln>
            <a:noFill/>
          </a:ln>
        </p:spPr>
        <p:txBody>
          <a:bodyPr wrap="square" lIns="0" tIns="0" rIns="0" bIns="0" anchor="t" rtlCol="0">
            <a:noAutofit/>
          </a:bodyPr>
          <a:lstStyle/>
          <a:p>
            <a:pPr algn="l" marL="0" indent="0">
              <a:lnSpc>
                <a:spcPct val="105000"/>
              </a:lnSpc>
              <a:spcBef>
                <a:spcPts val="0"/>
              </a:spcBef>
              <a:spcAft>
                <a:spcPts val="0"/>
              </a:spcAft>
              <a:buNone/>
            </a:pPr>
            <a:r>
              <a:rPr lang="en-GB" sz="2200" b="0" dirty="0">
                <a:solidFill>
                  <a:srgbClr val="0B1F3A"/>
                </a:solidFill>
                <a:latin typeface="Calibri"/>
                <a:cs typeface="Calibri"/>
              </a:rPr>
              <a:t>ED system or e-observations for first NEWS2 time; EPMA or drug chart…</a:t>
            </a:r>
            <a:endParaRPr lang="en-GB" sz="2200" dirty="0"/>
          </a:p>
        </p:txBody>
      </p:sp>
      <p:sp>
        <p:nvSpPr>
          <p:cNvPr id="12" name="Text 12"/>
          <p:cNvSpPr txBox="1"/>
          <p:nvPr/>
        </p:nvSpPr>
        <p:spPr>
          <a:xfrm>
            <a:off x="6324448" y="3977640"/>
            <a:ext cx="5044288" cy="274320"/>
          </a:xfrm>
          <a:prstGeom prst="rect">
            <a:avLst/>
          </a:prstGeom>
          <a:noFill/>
          <a:ln>
            <a:noFill/>
          </a:ln>
        </p:spPr>
        <p:txBody>
          <a:bodyPr wrap="square" lIns="0" tIns="0" rIns="0" bIns="0" anchor="t" rtlCol="0">
            <a:noAutofit/>
          </a:bodyPr>
          <a:lstStyle/>
          <a:p>
            <a:pPr algn="l" marL="0" indent="0">
              <a:lnSpc>
                <a:spcPct val="100000"/>
              </a:lnSpc>
              <a:spcBef>
                <a:spcPts val="0"/>
              </a:spcBef>
              <a:spcAft>
                <a:spcPts val="0"/>
              </a:spcAft>
              <a:buNone/>
            </a:pPr>
            <a:r>
              <a:rPr lang="en-GB" sz="1100" b="1" spc="200" dirty="0">
                <a:solidFill>
                  <a:srgbClr val="B8924A"/>
                </a:solidFill>
                <a:latin typeface="Calibri"/>
                <a:cs typeface="Calibri"/>
              </a:rPr>
              <a:t>WHAT COUNTS AS A PASS</a:t>
            </a:r>
            <a:endParaRPr lang="en-GB" sz="1100" dirty="0"/>
          </a:p>
        </p:txBody>
      </p:sp>
      <p:sp>
        <p:nvSpPr>
          <p:cNvPr id="13" name="Text 13"/>
          <p:cNvSpPr txBox="1"/>
          <p:nvPr/>
        </p:nvSpPr>
        <p:spPr>
          <a:xfrm>
            <a:off x="6324448" y="4343400"/>
            <a:ext cx="4769968" cy="1188720"/>
          </a:xfrm>
          <a:prstGeom prst="rect">
            <a:avLst/>
          </a:prstGeom>
          <a:noFill/>
          <a:ln>
            <a:noFill/>
          </a:ln>
        </p:spPr>
        <p:txBody>
          <a:bodyPr wrap="square" lIns="0" tIns="0" rIns="0" bIns="0" anchor="t" rtlCol="0">
            <a:noAutofit/>
          </a:bodyPr>
          <a:lstStyle/>
          <a:p>
            <a:pPr algn="l" marL="0" indent="0">
              <a:lnSpc>
                <a:spcPct val="105000"/>
              </a:lnSpc>
              <a:spcBef>
                <a:spcPts val="0"/>
              </a:spcBef>
              <a:spcAft>
                <a:spcPts val="0"/>
              </a:spcAft>
              <a:buNone/>
            </a:pPr>
            <a:r>
              <a:rPr lang="en-GB" sz="2200" b="0" dirty="0">
                <a:solidFill>
                  <a:srgbClr val="0B1F3A"/>
                </a:solidFill>
                <a:latin typeface="Calibri"/>
                <a:cs typeface="Calibri"/>
              </a:rPr>
              <a:t>First IV antibiotic dose recorded as given on the drug chart within…</a:t>
            </a:r>
            <a:endParaRPr lang="en-GB"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10637215" y="6291072"/>
            <a:ext cx="731520" cy="274320"/>
          </a:xfrm>
          <a:prstGeom prst="rect">
            <a:avLst/>
          </a:prstGeom>
          <a:noFill/>
          <a:ln>
            <a:noFill/>
          </a:ln>
        </p:spPr>
        <p:txBody>
          <a:bodyPr wrap="square" lIns="0" tIns="0" rIns="0" bIns="0" anchor="b" rtlCol="0">
            <a:noAutofit/>
          </a:bodyPr>
          <a:lstStyle/>
          <a:p>
            <a:pPr algn="r" marL="0" indent="0">
              <a:lnSpc>
                <a:spcPct val="100000"/>
              </a:lnSpc>
              <a:spcBef>
                <a:spcPts val="0"/>
              </a:spcBef>
              <a:spcAft>
                <a:spcPts val="0"/>
              </a:spcAft>
              <a:buNone/>
            </a:pPr>
            <a:r>
              <a:rPr lang="en-GB" sz="1000" b="0" dirty="0">
                <a:solidFill>
                  <a:srgbClr val="9AA5B8"/>
                </a:solidFill>
                <a:latin typeface="Calibri"/>
                <a:cs typeface="Calibri"/>
              </a:rPr>
              <a:t>5</a:t>
            </a:r>
            <a:endParaRPr lang="en-GB" sz="1000" dirty="0"/>
          </a:p>
        </p:txBody>
      </p:sp>
      <p:sp>
        <p:nvSpPr>
          <p:cNvPr id="3" name="Text 3"/>
          <p:cNvSpPr txBox="1"/>
          <p:nvPr/>
        </p:nvSpPr>
        <p:spPr>
          <a:xfrm>
            <a:off x="822960" y="685800"/>
            <a:ext cx="7315200" cy="274320"/>
          </a:xfrm>
          <a:prstGeom prst="rect">
            <a:avLst/>
          </a:prstGeom>
          <a:noFill/>
          <a:ln>
            <a:noFill/>
          </a:ln>
        </p:spPr>
        <p:txBody>
          <a:bodyPr wrap="square" lIns="0" tIns="0" rIns="0" bIns="0" anchor="t" rtlCol="0">
            <a:noAutofit/>
          </a:bodyPr>
          <a:lstStyle/>
          <a:p>
            <a:pPr algn="l" marL="0" indent="0">
              <a:lnSpc>
                <a:spcPct val="100000"/>
              </a:lnSpc>
              <a:spcBef>
                <a:spcPts val="0"/>
              </a:spcBef>
              <a:spcAft>
                <a:spcPts val="0"/>
              </a:spcAft>
              <a:buNone/>
            </a:pPr>
            <a:r>
              <a:rPr lang="en-GB" sz="1100" b="1" spc="200" dirty="0">
                <a:solidFill>
                  <a:srgbClr val="44506A"/>
                </a:solidFill>
                <a:latin typeface="Calibri"/>
                <a:cs typeface="Calibri"/>
              </a:rPr>
              <a:t>WHAT WE FOUND · CYCLE 1</a:t>
            </a:r>
            <a:endParaRPr lang="en-GB" sz="1100" dirty="0"/>
          </a:p>
        </p:txBody>
      </p:sp>
      <p:sp>
        <p:nvSpPr>
          <p:cNvPr id="4" name="Text 4"/>
          <p:cNvSpPr txBox="1"/>
          <p:nvPr/>
        </p:nvSpPr>
        <p:spPr>
          <a:xfrm>
            <a:off x="749808" y="1417320"/>
            <a:ext cx="4754880" cy="2377440"/>
          </a:xfrm>
          <a:prstGeom prst="rect">
            <a:avLst/>
          </a:prstGeom>
          <a:noFill/>
          <a:ln>
            <a:noFill/>
          </a:ln>
        </p:spPr>
        <p:txBody>
          <a:bodyPr wrap="square" lIns="0" tIns="0" rIns="0" bIns="0" anchor="ctr" rtlCol="0">
            <a:noAutofit/>
          </a:bodyPr>
          <a:lstStyle/>
          <a:p>
            <a:pPr algn="l" marL="0" indent="0">
              <a:lnSpc>
                <a:spcPct val="100000"/>
              </a:lnSpc>
              <a:spcBef>
                <a:spcPts val="0"/>
              </a:spcBef>
              <a:spcAft>
                <a:spcPts val="0"/>
              </a:spcAft>
              <a:buNone/>
            </a:pPr>
            <a:r>
              <a:rPr lang="en-GB" sz="15000" b="0" dirty="0">
                <a:solidFill>
                  <a:srgbClr val="0B1F3A"/>
                </a:solidFill>
                <a:latin typeface="Georgia"/>
                <a:cs typeface="Georgia"/>
              </a:rPr>
              <a:t>58%</a:t>
            </a:r>
            <a:endParaRPr lang="en-GB" sz="15000" dirty="0"/>
          </a:p>
        </p:txBody>
      </p:sp>
      <p:sp>
        <p:nvSpPr>
          <p:cNvPr id="5" name="Text 5"/>
          <p:cNvSpPr txBox="1"/>
          <p:nvPr/>
        </p:nvSpPr>
        <p:spPr>
          <a:xfrm>
            <a:off x="5852160" y="1600200"/>
            <a:ext cx="5516575" cy="2011680"/>
          </a:xfrm>
          <a:prstGeom prst="rect">
            <a:avLst/>
          </a:prstGeom>
          <a:noFill/>
          <a:ln>
            <a:noFill/>
          </a:ln>
        </p:spPr>
        <p:txBody>
          <a:bodyPr wrap="square" lIns="0" tIns="0" rIns="0" bIns="0" anchor="ctr" rtlCol="0">
            <a:noAutofit/>
          </a:bodyPr>
          <a:lstStyle/>
          <a:p>
            <a:pPr algn="l" marL="0" indent="0">
              <a:lnSpc>
                <a:spcPct val="100000"/>
              </a:lnSpc>
              <a:spcBef>
                <a:spcPts val="0"/>
              </a:spcBef>
              <a:spcAft>
                <a:spcPts val="0"/>
              </a:spcAft>
              <a:buNone/>
            </a:pPr>
            <a:r>
              <a:rPr lang="en-GB" sz="3200" b="0" dirty="0">
                <a:solidFill>
                  <a:srgbClr val="0B1F3A"/>
                </a:solidFill>
                <a:latin typeface="Georgia"/>
                <a:cs typeface="Georgia"/>
              </a:rPr>
              <a:t>Fewer than three in five met the standard</a:t>
            </a:r>
            <a:endParaRPr lang="en-GB" sz="3200" dirty="0"/>
          </a:p>
        </p:txBody>
      </p:sp>
      <p:sp>
        <p:nvSpPr>
          <p:cNvPr id="6" name="Shape 6"/>
          <p:cNvSpPr/>
          <p:nvPr/>
        </p:nvSpPr>
        <p:spPr>
          <a:xfrm>
            <a:off x="822960" y="4480560"/>
            <a:ext cx="10545775" cy="109728"/>
          </a:xfrm>
          <a:prstGeom prst="rect">
            <a:avLst/>
          </a:prstGeom>
          <a:solidFill>
            <a:srgbClr val="E4E6EB"/>
          </a:solidFill>
          <a:ln>
            <a:noFill/>
          </a:ln>
        </p:spPr>
        <p:txBody>
          <a:bodyPr rtlCol="0" anchor="ctr"/>
          <a:lstStyle/>
          <a:p>
            <a:endParaRPr lang="en-GB" dirty="0"/>
          </a:p>
        </p:txBody>
      </p:sp>
      <p:sp>
        <p:nvSpPr>
          <p:cNvPr id="7" name="Shape 7"/>
          <p:cNvSpPr/>
          <p:nvPr/>
        </p:nvSpPr>
        <p:spPr>
          <a:xfrm>
            <a:off x="822960" y="4480560"/>
            <a:ext cx="6063821" cy="109728"/>
          </a:xfrm>
          <a:prstGeom prst="rect">
            <a:avLst/>
          </a:prstGeom>
          <a:solidFill>
            <a:srgbClr val="9AA5B8"/>
          </a:solidFill>
          <a:ln>
            <a:noFill/>
          </a:ln>
        </p:spPr>
        <p:txBody>
          <a:bodyPr rtlCol="0" anchor="ctr"/>
          <a:lstStyle/>
          <a:p>
            <a:endParaRPr lang="en-GB" dirty="0"/>
          </a:p>
        </p:txBody>
      </p:sp>
      <p:cxnSp>
        <p:nvCxnSpPr>
          <p:cNvPr id="8" name="Line 8"/>
          <p:cNvCxnSpPr/>
          <p:nvPr/>
        </p:nvCxnSpPr>
        <p:spPr>
          <a:xfrm>
            <a:off x="10314158" y="4279392"/>
            <a:ext cx="0" cy="512064"/>
          </a:xfrm>
          <a:prstGeom prst="line">
            <a:avLst/>
          </a:prstGeom>
          <a:ln w="19050" cap="rnd">
            <a:solidFill>
              <a:srgbClr val="0B1F3A"/>
            </a:solidFill>
          </a:ln>
        </p:spPr>
      </p:cxnSp>
      <p:sp>
        <p:nvSpPr>
          <p:cNvPr id="9" name="Text 9"/>
          <p:cNvSpPr txBox="1"/>
          <p:nvPr/>
        </p:nvSpPr>
        <p:spPr>
          <a:xfrm>
            <a:off x="9765518" y="4864608"/>
            <a:ext cx="1097280" cy="274320"/>
          </a:xfrm>
          <a:prstGeom prst="rect">
            <a:avLst/>
          </a:prstGeom>
          <a:noFill/>
          <a:ln>
            <a:noFill/>
          </a:ln>
        </p:spPr>
        <p:txBody>
          <a:bodyPr wrap="square" lIns="0" tIns="0" rIns="0" bIns="0" anchor="t" rtlCol="0">
            <a:noAutofit/>
          </a:bodyPr>
          <a:lstStyle/>
          <a:p>
            <a:pPr algn="ctr" marL="0" indent="0">
              <a:lnSpc>
                <a:spcPct val="100000"/>
              </a:lnSpc>
              <a:spcBef>
                <a:spcPts val="0"/>
              </a:spcBef>
              <a:spcAft>
                <a:spcPts val="0"/>
              </a:spcAft>
              <a:buNone/>
            </a:pPr>
            <a:r>
              <a:rPr lang="en-GB" sz="1100" b="0" dirty="0">
                <a:solidFill>
                  <a:srgbClr val="0B1F3A"/>
                </a:solidFill>
                <a:latin typeface="Calibri"/>
                <a:cs typeface="Calibri"/>
              </a:rPr>
              <a:t>Target 90%</a:t>
            </a:r>
            <a:endParaRPr lang="en-GB" sz="1100" dirty="0"/>
          </a:p>
        </p:txBody>
      </p:sp>
      <p:sp>
        <p:nvSpPr>
          <p:cNvPr id="10" name="Text 10"/>
          <p:cNvSpPr txBox="1"/>
          <p:nvPr/>
        </p:nvSpPr>
        <p:spPr>
          <a:xfrm>
            <a:off x="822960" y="5257800"/>
            <a:ext cx="8229600" cy="320040"/>
          </a:xfrm>
          <a:prstGeom prst="rect">
            <a:avLst/>
          </a:prstGeom>
          <a:noFill/>
          <a:ln>
            <a:noFill/>
          </a:ln>
        </p:spPr>
        <p:txBody>
          <a:bodyPr wrap="square" lIns="0" tIns="0" rIns="0" bIns="0" anchor="t" rtlCol="0">
            <a:noAutofit/>
          </a:bodyPr>
          <a:lstStyle/>
          <a:p>
            <a:pPr algn="l" marL="0" indent="0">
              <a:lnSpc>
                <a:spcPct val="100000"/>
              </a:lnSpc>
              <a:spcBef>
                <a:spcPts val="0"/>
              </a:spcBef>
              <a:spcAft>
                <a:spcPts val="0"/>
              </a:spcAft>
              <a:buNone/>
            </a:pPr>
            <a:r>
              <a:rPr lang="en-GB" sz="1200" b="0" dirty="0">
                <a:solidFill>
                  <a:srgbClr val="44506A"/>
                </a:solidFill>
                <a:latin typeface="Calibri"/>
                <a:cs typeface="Calibri"/>
              </a:rPr>
              <a:t>23 of 40 cases with a result  ·  40 audited  ·  1 Apr 2026 – 29 May 2026</a:t>
            </a:r>
            <a:endParaRPr lang="en-GB"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10637215" y="6291072"/>
            <a:ext cx="731520" cy="274320"/>
          </a:xfrm>
          <a:prstGeom prst="rect">
            <a:avLst/>
          </a:prstGeom>
          <a:noFill/>
          <a:ln>
            <a:noFill/>
          </a:ln>
        </p:spPr>
        <p:txBody>
          <a:bodyPr wrap="square" lIns="0" tIns="0" rIns="0" bIns="0" anchor="b" rtlCol="0">
            <a:noAutofit/>
          </a:bodyPr>
          <a:lstStyle/>
          <a:p>
            <a:pPr algn="r" marL="0" indent="0">
              <a:lnSpc>
                <a:spcPct val="100000"/>
              </a:lnSpc>
              <a:spcBef>
                <a:spcPts val="0"/>
              </a:spcBef>
              <a:spcAft>
                <a:spcPts val="0"/>
              </a:spcAft>
              <a:buNone/>
            </a:pPr>
            <a:r>
              <a:rPr lang="en-GB" sz="1000" b="0" dirty="0">
                <a:solidFill>
                  <a:srgbClr val="9AA5B8"/>
                </a:solidFill>
                <a:latin typeface="Calibri"/>
                <a:cs typeface="Calibri"/>
              </a:rPr>
              <a:t>6</a:t>
            </a:r>
            <a:endParaRPr lang="en-GB" sz="1000" dirty="0"/>
          </a:p>
        </p:txBody>
      </p:sp>
      <p:sp>
        <p:nvSpPr>
          <p:cNvPr id="3" name="Text 3"/>
          <p:cNvSpPr txBox="1"/>
          <p:nvPr/>
        </p:nvSpPr>
        <p:spPr>
          <a:xfrm>
            <a:off x="822960" y="640080"/>
            <a:ext cx="10545775" cy="914400"/>
          </a:xfrm>
          <a:prstGeom prst="rect">
            <a:avLst/>
          </a:prstGeom>
          <a:noFill/>
          <a:ln>
            <a:noFill/>
          </a:ln>
        </p:spPr>
        <p:txBody>
          <a:bodyPr wrap="square" lIns="0" tIns="0" rIns="0" bIns="0" anchor="t" rtlCol="0">
            <a:noAutofit/>
          </a:bodyPr>
          <a:lstStyle/>
          <a:p>
            <a:pPr algn="l" marL="0" indent="0">
              <a:lnSpc>
                <a:spcPct val="95000"/>
              </a:lnSpc>
              <a:spcBef>
                <a:spcPts val="0"/>
              </a:spcBef>
              <a:spcAft>
                <a:spcPts val="0"/>
              </a:spcAft>
              <a:buNone/>
            </a:pPr>
            <a:r>
              <a:rPr lang="en-GB" sz="3200" b="0" dirty="0">
                <a:solidFill>
                  <a:srgbClr val="0B1F3A"/>
                </a:solidFill>
                <a:latin typeface="Georgia"/>
                <a:cs typeface="Georgia"/>
              </a:rPr>
              <a:t>What got in the way</a:t>
            </a:r>
            <a:endParaRPr lang="en-GB" sz="3200" dirty="0"/>
          </a:p>
        </p:txBody>
      </p:sp>
      <p:sp>
        <p:nvSpPr>
          <p:cNvPr id="4" name="Text 4"/>
          <p:cNvSpPr txBox="1"/>
          <p:nvPr/>
        </p:nvSpPr>
        <p:spPr>
          <a:xfrm>
            <a:off x="822960" y="1417320"/>
            <a:ext cx="5486400" cy="274320"/>
          </a:xfrm>
          <a:prstGeom prst="rect">
            <a:avLst/>
          </a:prstGeom>
          <a:noFill/>
          <a:ln>
            <a:noFill/>
          </a:ln>
        </p:spPr>
        <p:txBody>
          <a:bodyPr wrap="square" lIns="0" tIns="0" rIns="0" bIns="0" anchor="t" rtlCol="0">
            <a:noAutofit/>
          </a:bodyPr>
          <a:lstStyle/>
          <a:p>
            <a:pPr algn="l" marL="0" indent="0">
              <a:lnSpc>
                <a:spcPct val="100000"/>
              </a:lnSpc>
              <a:spcBef>
                <a:spcPts val="0"/>
              </a:spcBef>
              <a:spcAft>
                <a:spcPts val="0"/>
              </a:spcAft>
              <a:buNone/>
            </a:pPr>
            <a:r>
              <a:rPr lang="en-GB" sz="1200" b="0" dirty="0">
                <a:solidFill>
                  <a:srgbClr val="9AA5B8"/>
                </a:solidFill>
                <a:latin typeface="Calibri"/>
                <a:cs typeface="Calibri"/>
              </a:rPr>
              <a:t>■</a:t>
            </a:r>
            <a:r>
              <a:rPr lang="en-GB" sz="1200" b="0" dirty="0">
                <a:solidFill>
                  <a:srgbClr val="44506A"/>
                </a:solidFill>
                <a:latin typeface="Calibri"/>
                <a:cs typeface="Calibri"/>
              </a:rPr>
              <a:t> Cycle 1</a:t>
            </a:r>
            <a:r>
              <a:rPr lang="en-GB" sz="1200" b="0" dirty="0">
                <a:solidFill>
                  <a:srgbClr val="B8924A"/>
                </a:solidFill>
                <a:latin typeface="Calibri"/>
                <a:cs typeface="Calibri"/>
              </a:rPr>
              <a:t>      ■</a:t>
            </a:r>
            <a:r>
              <a:rPr lang="en-GB" sz="1200" b="0" dirty="0">
                <a:solidFill>
                  <a:srgbClr val="44506A"/>
                </a:solidFill>
                <a:latin typeface="Calibri"/>
                <a:cs typeface="Calibri"/>
              </a:rPr>
              <a:t> Re-audit</a:t>
            </a:r>
            <a:endParaRPr lang="en-GB" sz="1200" dirty="0"/>
          </a:p>
        </p:txBody>
      </p:sp>
      <p:sp>
        <p:nvSpPr>
          <p:cNvPr id="5" name="Text 5"/>
          <p:cNvSpPr txBox="1"/>
          <p:nvPr/>
        </p:nvSpPr>
        <p:spPr>
          <a:xfrm>
            <a:off x="822960" y="2011680"/>
            <a:ext cx="10545775" cy="274320"/>
          </a:xfrm>
          <a:prstGeom prst="rect">
            <a:avLst/>
          </a:prstGeom>
          <a:noFill/>
          <a:ln>
            <a:noFill/>
          </a:ln>
        </p:spPr>
        <p:txBody>
          <a:bodyPr wrap="square" lIns="0" tIns="0" rIns="0" bIns="0" anchor="t" rtlCol="0">
            <a:noAutofit/>
          </a:bodyPr>
          <a:lstStyle/>
          <a:p>
            <a:pPr algn="l" marL="0" indent="0">
              <a:lnSpc>
                <a:spcPct val="100000"/>
              </a:lnSpc>
              <a:spcBef>
                <a:spcPts val="0"/>
              </a:spcBef>
              <a:spcAft>
                <a:spcPts val="0"/>
              </a:spcAft>
              <a:buNone/>
            </a:pPr>
            <a:r>
              <a:rPr lang="en-GB" sz="1100" b="1" spc="200" dirty="0">
                <a:solidFill>
                  <a:srgbClr val="B8924A"/>
                </a:solidFill>
                <a:latin typeface="Calibri"/>
                <a:cs typeface="Calibri"/>
              </a:rPr>
              <a:t>REASON FOR DELAY</a:t>
            </a:r>
            <a:endParaRPr lang="en-GB" sz="1100" dirty="0"/>
          </a:p>
        </p:txBody>
      </p:sp>
      <p:sp>
        <p:nvSpPr>
          <p:cNvPr id="6" name="Text 6"/>
          <p:cNvSpPr txBox="1"/>
          <p:nvPr/>
        </p:nvSpPr>
        <p:spPr>
          <a:xfrm>
            <a:off x="822960" y="2468880"/>
            <a:ext cx="3291840" cy="310896"/>
          </a:xfrm>
          <a:prstGeom prst="rect">
            <a:avLst/>
          </a:prstGeom>
          <a:noFill/>
          <a:ln>
            <a:noFill/>
          </a:ln>
        </p:spPr>
        <p:txBody>
          <a:bodyPr wrap="square" lIns="0" tIns="0" rIns="0" bIns="0" anchor="ctr" rtlCol="0">
            <a:noAutofit/>
          </a:bodyPr>
          <a:lstStyle/>
          <a:p>
            <a:pPr algn="l" marL="0" indent="0">
              <a:lnSpc>
                <a:spcPct val="100000"/>
              </a:lnSpc>
              <a:spcBef>
                <a:spcPts val="0"/>
              </a:spcBef>
              <a:spcAft>
                <a:spcPts val="0"/>
              </a:spcAft>
              <a:buNone/>
            </a:pPr>
            <a:r>
              <a:rPr lang="en-GB" sz="1400" b="0" dirty="0">
                <a:solidFill>
                  <a:srgbClr val="0B1F3A"/>
                </a:solidFill>
                <a:latin typeface="Calibri"/>
                <a:cs typeface="Calibri"/>
              </a:rPr>
              <a:t>Not recognised as sepsis</a:t>
            </a:r>
            <a:endParaRPr lang="en-GB" sz="1400" dirty="0"/>
          </a:p>
        </p:txBody>
      </p:sp>
      <p:sp>
        <p:nvSpPr>
          <p:cNvPr id="7" name="Shape 7"/>
          <p:cNvSpPr/>
          <p:nvPr/>
        </p:nvSpPr>
        <p:spPr>
          <a:xfrm>
            <a:off x="4297680" y="2487168"/>
            <a:ext cx="6568135" cy="128016"/>
          </a:xfrm>
          <a:prstGeom prst="rect">
            <a:avLst/>
          </a:prstGeom>
          <a:solidFill>
            <a:srgbClr val="9AA5B8"/>
          </a:solidFill>
          <a:ln>
            <a:noFill/>
          </a:ln>
        </p:spPr>
        <p:txBody>
          <a:bodyPr rtlCol="0" anchor="ctr"/>
          <a:lstStyle/>
          <a:p>
            <a:endParaRPr lang="en-GB" dirty="0"/>
          </a:p>
        </p:txBody>
      </p:sp>
      <p:sp>
        <p:nvSpPr>
          <p:cNvPr id="8" name="Text 8"/>
          <p:cNvSpPr txBox="1"/>
          <p:nvPr/>
        </p:nvSpPr>
        <p:spPr>
          <a:xfrm>
            <a:off x="10938967" y="2432304"/>
            <a:ext cx="457200" cy="237744"/>
          </a:xfrm>
          <a:prstGeom prst="rect">
            <a:avLst/>
          </a:prstGeom>
          <a:noFill/>
          <a:ln>
            <a:noFill/>
          </a:ln>
        </p:spPr>
        <p:txBody>
          <a:bodyPr wrap="square" lIns="0" tIns="0" rIns="0" bIns="0" anchor="ctr" rtlCol="0">
            <a:noAutofit/>
          </a:bodyPr>
          <a:lstStyle/>
          <a:p>
            <a:pPr algn="l" marL="0" indent="0">
              <a:lnSpc>
                <a:spcPct val="100000"/>
              </a:lnSpc>
              <a:spcBef>
                <a:spcPts val="0"/>
              </a:spcBef>
              <a:spcAft>
                <a:spcPts val="0"/>
              </a:spcAft>
              <a:buNone/>
            </a:pPr>
            <a:r>
              <a:rPr lang="en-GB" sz="1000" b="0" dirty="0">
                <a:solidFill>
                  <a:srgbClr val="44506A"/>
                </a:solidFill>
                <a:latin typeface="Calibri"/>
                <a:cs typeface="Calibri"/>
              </a:rPr>
              <a:t>8</a:t>
            </a:r>
            <a:endParaRPr lang="en-GB" sz="1000" dirty="0"/>
          </a:p>
        </p:txBody>
      </p:sp>
      <p:sp>
        <p:nvSpPr>
          <p:cNvPr id="9" name="Shape 9"/>
          <p:cNvSpPr/>
          <p:nvPr/>
        </p:nvSpPr>
        <p:spPr>
          <a:xfrm>
            <a:off x="4297680" y="2670048"/>
            <a:ext cx="821017" cy="128016"/>
          </a:xfrm>
          <a:prstGeom prst="rect">
            <a:avLst/>
          </a:prstGeom>
          <a:solidFill>
            <a:srgbClr val="B8924A"/>
          </a:solidFill>
          <a:ln>
            <a:noFill/>
          </a:ln>
        </p:spPr>
        <p:txBody>
          <a:bodyPr rtlCol="0" anchor="ctr"/>
          <a:lstStyle/>
          <a:p>
            <a:endParaRPr lang="en-GB" dirty="0"/>
          </a:p>
        </p:txBody>
      </p:sp>
      <p:sp>
        <p:nvSpPr>
          <p:cNvPr id="10" name="Text 10"/>
          <p:cNvSpPr txBox="1"/>
          <p:nvPr/>
        </p:nvSpPr>
        <p:spPr>
          <a:xfrm>
            <a:off x="5191849" y="2615184"/>
            <a:ext cx="457200" cy="237744"/>
          </a:xfrm>
          <a:prstGeom prst="rect">
            <a:avLst/>
          </a:prstGeom>
          <a:noFill/>
          <a:ln>
            <a:noFill/>
          </a:ln>
        </p:spPr>
        <p:txBody>
          <a:bodyPr wrap="square" lIns="0" tIns="0" rIns="0" bIns="0" anchor="ctr" rtlCol="0">
            <a:noAutofit/>
          </a:bodyPr>
          <a:lstStyle/>
          <a:p>
            <a:pPr algn="l" marL="0" indent="0">
              <a:lnSpc>
                <a:spcPct val="100000"/>
              </a:lnSpc>
              <a:spcBef>
                <a:spcPts val="0"/>
              </a:spcBef>
              <a:spcAft>
                <a:spcPts val="0"/>
              </a:spcAft>
              <a:buNone/>
            </a:pPr>
            <a:r>
              <a:rPr lang="en-GB" sz="1000" b="0" dirty="0">
                <a:solidFill>
                  <a:srgbClr val="44506A"/>
                </a:solidFill>
                <a:latin typeface="Calibri"/>
                <a:cs typeface="Calibri"/>
              </a:rPr>
              <a:t>1</a:t>
            </a:r>
            <a:endParaRPr lang="en-GB" sz="1000" dirty="0"/>
          </a:p>
        </p:txBody>
      </p:sp>
      <p:sp>
        <p:nvSpPr>
          <p:cNvPr id="11" name="Text 11"/>
          <p:cNvSpPr txBox="1"/>
          <p:nvPr/>
        </p:nvSpPr>
        <p:spPr>
          <a:xfrm>
            <a:off x="822960" y="3182112"/>
            <a:ext cx="3291840" cy="310896"/>
          </a:xfrm>
          <a:prstGeom prst="rect">
            <a:avLst/>
          </a:prstGeom>
          <a:noFill/>
          <a:ln>
            <a:noFill/>
          </a:ln>
        </p:spPr>
        <p:txBody>
          <a:bodyPr wrap="square" lIns="0" tIns="0" rIns="0" bIns="0" anchor="ctr" rtlCol="0">
            <a:noAutofit/>
          </a:bodyPr>
          <a:lstStyle/>
          <a:p>
            <a:pPr algn="l" marL="0" indent="0">
              <a:lnSpc>
                <a:spcPct val="100000"/>
              </a:lnSpc>
              <a:spcBef>
                <a:spcPts val="0"/>
              </a:spcBef>
              <a:spcAft>
                <a:spcPts val="0"/>
              </a:spcAft>
              <a:buNone/>
            </a:pPr>
            <a:r>
              <a:rPr lang="en-GB" sz="1400" b="0" dirty="0">
                <a:solidFill>
                  <a:srgbClr val="0B1F3A"/>
                </a:solidFill>
                <a:latin typeface="Calibri"/>
                <a:cs typeface="Calibri"/>
              </a:rPr>
              <a:t>Prescribing delay</a:t>
            </a:r>
            <a:endParaRPr lang="en-GB" sz="1400" dirty="0"/>
          </a:p>
        </p:txBody>
      </p:sp>
      <p:sp>
        <p:nvSpPr>
          <p:cNvPr id="12" name="Shape 12"/>
          <p:cNvSpPr/>
          <p:nvPr/>
        </p:nvSpPr>
        <p:spPr>
          <a:xfrm>
            <a:off x="4297680" y="3200400"/>
            <a:ext cx="3284068" cy="128016"/>
          </a:xfrm>
          <a:prstGeom prst="rect">
            <a:avLst/>
          </a:prstGeom>
          <a:solidFill>
            <a:srgbClr val="9AA5B8"/>
          </a:solidFill>
          <a:ln>
            <a:noFill/>
          </a:ln>
        </p:spPr>
        <p:txBody>
          <a:bodyPr rtlCol="0" anchor="ctr"/>
          <a:lstStyle/>
          <a:p>
            <a:endParaRPr lang="en-GB" dirty="0"/>
          </a:p>
        </p:txBody>
      </p:sp>
      <p:sp>
        <p:nvSpPr>
          <p:cNvPr id="13" name="Text 13"/>
          <p:cNvSpPr txBox="1"/>
          <p:nvPr/>
        </p:nvSpPr>
        <p:spPr>
          <a:xfrm>
            <a:off x="7654900" y="3145536"/>
            <a:ext cx="457200" cy="237744"/>
          </a:xfrm>
          <a:prstGeom prst="rect">
            <a:avLst/>
          </a:prstGeom>
          <a:noFill/>
          <a:ln>
            <a:noFill/>
          </a:ln>
        </p:spPr>
        <p:txBody>
          <a:bodyPr wrap="square" lIns="0" tIns="0" rIns="0" bIns="0" anchor="ctr" rtlCol="0">
            <a:noAutofit/>
          </a:bodyPr>
          <a:lstStyle/>
          <a:p>
            <a:pPr algn="l" marL="0" indent="0">
              <a:lnSpc>
                <a:spcPct val="100000"/>
              </a:lnSpc>
              <a:spcBef>
                <a:spcPts val="0"/>
              </a:spcBef>
              <a:spcAft>
                <a:spcPts val="0"/>
              </a:spcAft>
              <a:buNone/>
            </a:pPr>
            <a:r>
              <a:rPr lang="en-GB" sz="1000" b="0" dirty="0">
                <a:solidFill>
                  <a:srgbClr val="44506A"/>
                </a:solidFill>
                <a:latin typeface="Calibri"/>
                <a:cs typeface="Calibri"/>
              </a:rPr>
              <a:t>4</a:t>
            </a:r>
            <a:endParaRPr lang="en-GB" sz="1000" dirty="0"/>
          </a:p>
        </p:txBody>
      </p:sp>
      <p:sp>
        <p:nvSpPr>
          <p:cNvPr id="14" name="Shape 14"/>
          <p:cNvSpPr/>
          <p:nvPr/>
        </p:nvSpPr>
        <p:spPr>
          <a:xfrm>
            <a:off x="4297680" y="3383280"/>
            <a:ext cx="821017" cy="128016"/>
          </a:xfrm>
          <a:prstGeom prst="rect">
            <a:avLst/>
          </a:prstGeom>
          <a:solidFill>
            <a:srgbClr val="B8924A"/>
          </a:solidFill>
          <a:ln>
            <a:noFill/>
          </a:ln>
        </p:spPr>
        <p:txBody>
          <a:bodyPr rtlCol="0" anchor="ctr"/>
          <a:lstStyle/>
          <a:p>
            <a:endParaRPr lang="en-GB" dirty="0"/>
          </a:p>
        </p:txBody>
      </p:sp>
      <p:sp>
        <p:nvSpPr>
          <p:cNvPr id="15" name="Text 15"/>
          <p:cNvSpPr txBox="1"/>
          <p:nvPr/>
        </p:nvSpPr>
        <p:spPr>
          <a:xfrm>
            <a:off x="5191849" y="3328416"/>
            <a:ext cx="457200" cy="237744"/>
          </a:xfrm>
          <a:prstGeom prst="rect">
            <a:avLst/>
          </a:prstGeom>
          <a:noFill/>
          <a:ln>
            <a:noFill/>
          </a:ln>
        </p:spPr>
        <p:txBody>
          <a:bodyPr wrap="square" lIns="0" tIns="0" rIns="0" bIns="0" anchor="ctr" rtlCol="0">
            <a:noAutofit/>
          </a:bodyPr>
          <a:lstStyle/>
          <a:p>
            <a:pPr algn="l" marL="0" indent="0">
              <a:lnSpc>
                <a:spcPct val="100000"/>
              </a:lnSpc>
              <a:spcBef>
                <a:spcPts val="0"/>
              </a:spcBef>
              <a:spcAft>
                <a:spcPts val="0"/>
              </a:spcAft>
              <a:buNone/>
            </a:pPr>
            <a:r>
              <a:rPr lang="en-GB" sz="1000" b="0" dirty="0">
                <a:solidFill>
                  <a:srgbClr val="44506A"/>
                </a:solidFill>
                <a:latin typeface="Calibri"/>
                <a:cs typeface="Calibri"/>
              </a:rPr>
              <a:t>1</a:t>
            </a:r>
            <a:endParaRPr lang="en-GB" sz="1000" dirty="0"/>
          </a:p>
        </p:txBody>
      </p:sp>
      <p:sp>
        <p:nvSpPr>
          <p:cNvPr id="16" name="Text 16"/>
          <p:cNvSpPr txBox="1"/>
          <p:nvPr/>
        </p:nvSpPr>
        <p:spPr>
          <a:xfrm>
            <a:off x="822960" y="3895344"/>
            <a:ext cx="3291840" cy="310896"/>
          </a:xfrm>
          <a:prstGeom prst="rect">
            <a:avLst/>
          </a:prstGeom>
          <a:noFill/>
          <a:ln>
            <a:noFill/>
          </a:ln>
        </p:spPr>
        <p:txBody>
          <a:bodyPr wrap="square" lIns="0" tIns="0" rIns="0" bIns="0" anchor="ctr" rtlCol="0">
            <a:noAutofit/>
          </a:bodyPr>
          <a:lstStyle/>
          <a:p>
            <a:pPr algn="l" marL="0" indent="0">
              <a:lnSpc>
                <a:spcPct val="100000"/>
              </a:lnSpc>
              <a:spcBef>
                <a:spcPts val="0"/>
              </a:spcBef>
              <a:spcAft>
                <a:spcPts val="0"/>
              </a:spcAft>
              <a:buNone/>
            </a:pPr>
            <a:r>
              <a:rPr lang="en-GB" sz="1400" b="0" dirty="0">
                <a:solidFill>
                  <a:srgbClr val="0B1F3A"/>
                </a:solidFill>
                <a:latin typeface="Calibri"/>
                <a:cs typeface="Calibri"/>
              </a:rPr>
              <a:t>No IV access</a:t>
            </a:r>
            <a:endParaRPr lang="en-GB" sz="1400" dirty="0"/>
          </a:p>
        </p:txBody>
      </p:sp>
      <p:sp>
        <p:nvSpPr>
          <p:cNvPr id="17" name="Shape 17"/>
          <p:cNvSpPr/>
          <p:nvPr/>
        </p:nvSpPr>
        <p:spPr>
          <a:xfrm>
            <a:off x="4297680" y="3913632"/>
            <a:ext cx="2463051" cy="128016"/>
          </a:xfrm>
          <a:prstGeom prst="rect">
            <a:avLst/>
          </a:prstGeom>
          <a:solidFill>
            <a:srgbClr val="9AA5B8"/>
          </a:solidFill>
          <a:ln>
            <a:noFill/>
          </a:ln>
        </p:spPr>
        <p:txBody>
          <a:bodyPr rtlCol="0" anchor="ctr"/>
          <a:lstStyle/>
          <a:p>
            <a:endParaRPr lang="en-GB" dirty="0"/>
          </a:p>
        </p:txBody>
      </p:sp>
      <p:sp>
        <p:nvSpPr>
          <p:cNvPr id="18" name="Text 18"/>
          <p:cNvSpPr txBox="1"/>
          <p:nvPr/>
        </p:nvSpPr>
        <p:spPr>
          <a:xfrm>
            <a:off x="6833883" y="3858768"/>
            <a:ext cx="457200" cy="237744"/>
          </a:xfrm>
          <a:prstGeom prst="rect">
            <a:avLst/>
          </a:prstGeom>
          <a:noFill/>
          <a:ln>
            <a:noFill/>
          </a:ln>
        </p:spPr>
        <p:txBody>
          <a:bodyPr wrap="square" lIns="0" tIns="0" rIns="0" bIns="0" anchor="ctr" rtlCol="0">
            <a:noAutofit/>
          </a:bodyPr>
          <a:lstStyle/>
          <a:p>
            <a:pPr algn="l" marL="0" indent="0">
              <a:lnSpc>
                <a:spcPct val="100000"/>
              </a:lnSpc>
              <a:spcBef>
                <a:spcPts val="0"/>
              </a:spcBef>
              <a:spcAft>
                <a:spcPts val="0"/>
              </a:spcAft>
              <a:buNone/>
            </a:pPr>
            <a:r>
              <a:rPr lang="en-GB" sz="1000" b="0" dirty="0">
                <a:solidFill>
                  <a:srgbClr val="44506A"/>
                </a:solidFill>
                <a:latin typeface="Calibri"/>
                <a:cs typeface="Calibri"/>
              </a:rPr>
              <a:t>3</a:t>
            </a:r>
            <a:endParaRPr lang="en-GB" sz="1000" dirty="0"/>
          </a:p>
        </p:txBody>
      </p:sp>
      <p:sp>
        <p:nvSpPr>
          <p:cNvPr id="19" name="Shape 19"/>
          <p:cNvSpPr/>
          <p:nvPr/>
        </p:nvSpPr>
        <p:spPr>
          <a:xfrm>
            <a:off x="4297680" y="4096512"/>
            <a:ext cx="821017" cy="128016"/>
          </a:xfrm>
          <a:prstGeom prst="rect">
            <a:avLst/>
          </a:prstGeom>
          <a:solidFill>
            <a:srgbClr val="B8924A"/>
          </a:solidFill>
          <a:ln>
            <a:noFill/>
          </a:ln>
        </p:spPr>
        <p:txBody>
          <a:bodyPr rtlCol="0" anchor="ctr"/>
          <a:lstStyle/>
          <a:p>
            <a:endParaRPr lang="en-GB" dirty="0"/>
          </a:p>
        </p:txBody>
      </p:sp>
      <p:sp>
        <p:nvSpPr>
          <p:cNvPr id="20" name="Text 20"/>
          <p:cNvSpPr txBox="1"/>
          <p:nvPr/>
        </p:nvSpPr>
        <p:spPr>
          <a:xfrm>
            <a:off x="5191849" y="4041648"/>
            <a:ext cx="457200" cy="237744"/>
          </a:xfrm>
          <a:prstGeom prst="rect">
            <a:avLst/>
          </a:prstGeom>
          <a:noFill/>
          <a:ln>
            <a:noFill/>
          </a:ln>
        </p:spPr>
        <p:txBody>
          <a:bodyPr wrap="square" lIns="0" tIns="0" rIns="0" bIns="0" anchor="ctr" rtlCol="0">
            <a:noAutofit/>
          </a:bodyPr>
          <a:lstStyle/>
          <a:p>
            <a:pPr algn="l" marL="0" indent="0">
              <a:lnSpc>
                <a:spcPct val="100000"/>
              </a:lnSpc>
              <a:spcBef>
                <a:spcPts val="0"/>
              </a:spcBef>
              <a:spcAft>
                <a:spcPts val="0"/>
              </a:spcAft>
              <a:buNone/>
            </a:pPr>
            <a:r>
              <a:rPr lang="en-GB" sz="1000" b="0" dirty="0">
                <a:solidFill>
                  <a:srgbClr val="44506A"/>
                </a:solidFill>
                <a:latin typeface="Calibri"/>
                <a:cs typeface="Calibri"/>
              </a:rPr>
              <a:t>1</a:t>
            </a:r>
            <a:endParaRPr lang="en-GB" sz="1000" dirty="0"/>
          </a:p>
        </p:txBody>
      </p:sp>
      <p:sp>
        <p:nvSpPr>
          <p:cNvPr id="21" name="Text 21"/>
          <p:cNvSpPr txBox="1"/>
          <p:nvPr/>
        </p:nvSpPr>
        <p:spPr>
          <a:xfrm>
            <a:off x="822960" y="4608576"/>
            <a:ext cx="3291840" cy="310896"/>
          </a:xfrm>
          <a:prstGeom prst="rect">
            <a:avLst/>
          </a:prstGeom>
          <a:noFill/>
          <a:ln>
            <a:noFill/>
          </a:ln>
        </p:spPr>
        <p:txBody>
          <a:bodyPr wrap="square" lIns="0" tIns="0" rIns="0" bIns="0" anchor="ctr" rtlCol="0">
            <a:noAutofit/>
          </a:bodyPr>
          <a:lstStyle/>
          <a:p>
            <a:pPr algn="l" marL="0" indent="0">
              <a:lnSpc>
                <a:spcPct val="100000"/>
              </a:lnSpc>
              <a:spcBef>
                <a:spcPts val="0"/>
              </a:spcBef>
              <a:spcAft>
                <a:spcPts val="0"/>
              </a:spcAft>
              <a:buNone/>
            </a:pPr>
            <a:r>
              <a:rPr lang="en-GB" sz="1400" b="0" dirty="0">
                <a:solidFill>
                  <a:srgbClr val="0B1F3A"/>
                </a:solidFill>
                <a:latin typeface="Calibri"/>
                <a:cs typeface="Calibri"/>
              </a:rPr>
              <a:t>Awaiting senior review</a:t>
            </a:r>
            <a:endParaRPr lang="en-GB" sz="1400" dirty="0"/>
          </a:p>
        </p:txBody>
      </p:sp>
      <p:sp>
        <p:nvSpPr>
          <p:cNvPr id="22" name="Shape 22"/>
          <p:cNvSpPr/>
          <p:nvPr/>
        </p:nvSpPr>
        <p:spPr>
          <a:xfrm>
            <a:off x="4297680" y="4626864"/>
            <a:ext cx="1642034" cy="128016"/>
          </a:xfrm>
          <a:prstGeom prst="rect">
            <a:avLst/>
          </a:prstGeom>
          <a:solidFill>
            <a:srgbClr val="9AA5B8"/>
          </a:solidFill>
          <a:ln>
            <a:noFill/>
          </a:ln>
        </p:spPr>
        <p:txBody>
          <a:bodyPr rtlCol="0" anchor="ctr"/>
          <a:lstStyle/>
          <a:p>
            <a:endParaRPr lang="en-GB" dirty="0"/>
          </a:p>
        </p:txBody>
      </p:sp>
      <p:sp>
        <p:nvSpPr>
          <p:cNvPr id="23" name="Text 23"/>
          <p:cNvSpPr txBox="1"/>
          <p:nvPr/>
        </p:nvSpPr>
        <p:spPr>
          <a:xfrm>
            <a:off x="6012866" y="4572000"/>
            <a:ext cx="457200" cy="237744"/>
          </a:xfrm>
          <a:prstGeom prst="rect">
            <a:avLst/>
          </a:prstGeom>
          <a:noFill/>
          <a:ln>
            <a:noFill/>
          </a:ln>
        </p:spPr>
        <p:txBody>
          <a:bodyPr wrap="square" lIns="0" tIns="0" rIns="0" bIns="0" anchor="ctr" rtlCol="0">
            <a:noAutofit/>
          </a:bodyPr>
          <a:lstStyle/>
          <a:p>
            <a:pPr algn="l" marL="0" indent="0">
              <a:lnSpc>
                <a:spcPct val="100000"/>
              </a:lnSpc>
              <a:spcBef>
                <a:spcPts val="0"/>
              </a:spcBef>
              <a:spcAft>
                <a:spcPts val="0"/>
              </a:spcAft>
              <a:buNone/>
            </a:pPr>
            <a:r>
              <a:rPr lang="en-GB" sz="1000" b="0" dirty="0">
                <a:solidFill>
                  <a:srgbClr val="44506A"/>
                </a:solidFill>
                <a:latin typeface="Calibri"/>
                <a:cs typeface="Calibri"/>
              </a:rPr>
              <a:t>2</a:t>
            </a:r>
            <a:endParaRPr lang="en-GB"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10637215" y="6291072"/>
            <a:ext cx="731520" cy="274320"/>
          </a:xfrm>
          <a:prstGeom prst="rect">
            <a:avLst/>
          </a:prstGeom>
          <a:noFill/>
          <a:ln>
            <a:noFill/>
          </a:ln>
        </p:spPr>
        <p:txBody>
          <a:bodyPr wrap="square" lIns="0" tIns="0" rIns="0" bIns="0" anchor="b" rtlCol="0">
            <a:noAutofit/>
          </a:bodyPr>
          <a:lstStyle/>
          <a:p>
            <a:pPr algn="r" marL="0" indent="0">
              <a:lnSpc>
                <a:spcPct val="100000"/>
              </a:lnSpc>
              <a:spcBef>
                <a:spcPts val="0"/>
              </a:spcBef>
              <a:spcAft>
                <a:spcPts val="0"/>
              </a:spcAft>
              <a:buNone/>
            </a:pPr>
            <a:r>
              <a:rPr lang="en-GB" sz="1000" b="0" dirty="0">
                <a:solidFill>
                  <a:srgbClr val="9AA5B8"/>
                </a:solidFill>
                <a:latin typeface="Calibri"/>
                <a:cs typeface="Calibri"/>
              </a:rPr>
              <a:t>7</a:t>
            </a:r>
            <a:endParaRPr lang="en-GB" sz="1000" dirty="0"/>
          </a:p>
        </p:txBody>
      </p:sp>
      <p:sp>
        <p:nvSpPr>
          <p:cNvPr id="3" name="Text 3"/>
          <p:cNvSpPr txBox="1"/>
          <p:nvPr/>
        </p:nvSpPr>
        <p:spPr>
          <a:xfrm>
            <a:off x="822960" y="685800"/>
            <a:ext cx="8229600" cy="274320"/>
          </a:xfrm>
          <a:prstGeom prst="rect">
            <a:avLst/>
          </a:prstGeom>
          <a:noFill/>
          <a:ln>
            <a:noFill/>
          </a:ln>
        </p:spPr>
        <p:txBody>
          <a:bodyPr wrap="square" lIns="0" tIns="0" rIns="0" bIns="0" anchor="t" rtlCol="0">
            <a:noAutofit/>
          </a:bodyPr>
          <a:lstStyle/>
          <a:p>
            <a:pPr algn="l" marL="0" indent="0">
              <a:lnSpc>
                <a:spcPct val="100000"/>
              </a:lnSpc>
              <a:spcBef>
                <a:spcPts val="0"/>
              </a:spcBef>
              <a:spcAft>
                <a:spcPts val="0"/>
              </a:spcAft>
              <a:buNone/>
            </a:pPr>
            <a:r>
              <a:rPr lang="en-GB" sz="1100" b="1" spc="200" dirty="0">
                <a:solidFill>
                  <a:srgbClr val="44506A"/>
                </a:solidFill>
                <a:latin typeface="Calibri"/>
                <a:cs typeface="Calibri"/>
              </a:rPr>
              <a:t>THE CHANGE</a:t>
            </a:r>
            <a:r>
              <a:rPr lang="en-GB" sz="1100" b="1" spc="200" dirty="0">
                <a:solidFill>
                  <a:srgbClr val="B8924A"/>
                </a:solidFill>
                <a:latin typeface="Calibri"/>
                <a:cs typeface="Calibri"/>
              </a:rPr>
              <a:t>   ·   STARTED 29 JUN 2026</a:t>
            </a:r>
            <a:endParaRPr lang="en-GB" sz="1100" dirty="0"/>
          </a:p>
        </p:txBody>
      </p:sp>
      <p:sp>
        <p:nvSpPr>
          <p:cNvPr id="4" name="Text 4"/>
          <p:cNvSpPr txBox="1"/>
          <p:nvPr/>
        </p:nvSpPr>
        <p:spPr>
          <a:xfrm>
            <a:off x="822960" y="1737360"/>
            <a:ext cx="9326880" cy="3931920"/>
          </a:xfrm>
          <a:prstGeom prst="rect">
            <a:avLst/>
          </a:prstGeom>
          <a:noFill/>
          <a:ln>
            <a:noFill/>
          </a:ln>
        </p:spPr>
        <p:txBody>
          <a:bodyPr wrap="square" lIns="0" tIns="0" rIns="0" bIns="0" anchor="ctr" rtlCol="0">
            <a:noAutofit/>
          </a:bodyPr>
          <a:lstStyle/>
          <a:p>
            <a:pPr algn="l" marL="0" indent="0">
              <a:lnSpc>
                <a:spcPct val="102000"/>
              </a:lnSpc>
              <a:spcBef>
                <a:spcPts val="0"/>
              </a:spcBef>
              <a:spcAft>
                <a:spcPts val="0"/>
              </a:spcAft>
              <a:buNone/>
            </a:pPr>
            <a:r>
              <a:rPr lang="en-GB" sz="3200" b="0" dirty="0">
                <a:solidFill>
                  <a:srgbClr val="0B1F3A"/>
                </a:solidFill>
                <a:latin typeface="Georgia"/>
                <a:cs typeface="Georgia"/>
              </a:rPr>
              <a:t>ED e-observations alert: NEWS2 of 7 or more with "infection suspected" opens the sepsis order set with a pre-filled antibiotic and a 60-minute countdown on the tracking board.</a:t>
            </a:r>
            <a:endParaRPr lang="en-GB" sz="3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B1F3A"/>
        </a:solidFill>
        <a:effectLst/>
      </p:bgPr>
    </p:bg>
    <p:spTree>
      <p:nvGrpSpPr>
        <p:cNvPr id="1" name=""/>
        <p:cNvGrpSpPr/>
        <p:nvPr/>
      </p:nvGrpSpPr>
      <p:grpSpPr>
        <a:xfrm>
          <a:off x="0" y="0"/>
          <a:ext cx="0" cy="0"/>
          <a:chOff x="0" y="0"/>
          <a:chExt cx="0" cy="0"/>
        </a:xfrm>
      </p:grpSpPr>
      <p:sp>
        <p:nvSpPr>
          <p:cNvPr id="2" name="Text 2"/>
          <p:cNvSpPr txBox="1"/>
          <p:nvPr/>
        </p:nvSpPr>
        <p:spPr>
          <a:xfrm>
            <a:off x="10637215" y="6291072"/>
            <a:ext cx="731520" cy="274320"/>
          </a:xfrm>
          <a:prstGeom prst="rect">
            <a:avLst/>
          </a:prstGeom>
          <a:noFill/>
          <a:ln>
            <a:noFill/>
          </a:ln>
        </p:spPr>
        <p:txBody>
          <a:bodyPr wrap="square" lIns="0" tIns="0" rIns="0" bIns="0" anchor="b" rtlCol="0">
            <a:noAutofit/>
          </a:bodyPr>
          <a:lstStyle/>
          <a:p>
            <a:pPr algn="r" marL="0" indent="0">
              <a:lnSpc>
                <a:spcPct val="100000"/>
              </a:lnSpc>
              <a:spcBef>
                <a:spcPts val="0"/>
              </a:spcBef>
              <a:spcAft>
                <a:spcPts val="0"/>
              </a:spcAft>
              <a:buNone/>
            </a:pPr>
            <a:r>
              <a:rPr lang="en-GB" sz="1000" b="0" dirty="0">
                <a:solidFill>
                  <a:srgbClr val="9AA5B8"/>
                </a:solidFill>
                <a:latin typeface="Calibri"/>
                <a:cs typeface="Calibri"/>
              </a:rPr>
              <a:t>8</a:t>
            </a:r>
            <a:endParaRPr lang="en-GB" sz="1000" dirty="0"/>
          </a:p>
        </p:txBody>
      </p:sp>
      <p:sp>
        <p:nvSpPr>
          <p:cNvPr id="3" name="Text 3"/>
          <p:cNvSpPr txBox="1"/>
          <p:nvPr/>
        </p:nvSpPr>
        <p:spPr>
          <a:xfrm>
            <a:off x="822960" y="685800"/>
            <a:ext cx="7315200" cy="274320"/>
          </a:xfrm>
          <a:prstGeom prst="rect">
            <a:avLst/>
          </a:prstGeom>
          <a:noFill/>
          <a:ln>
            <a:noFill/>
          </a:ln>
        </p:spPr>
        <p:txBody>
          <a:bodyPr wrap="square" lIns="0" tIns="0" rIns="0" bIns="0" anchor="t" rtlCol="0">
            <a:noAutofit/>
          </a:bodyPr>
          <a:lstStyle/>
          <a:p>
            <a:pPr algn="l" marL="0" indent="0">
              <a:lnSpc>
                <a:spcPct val="100000"/>
              </a:lnSpc>
              <a:spcBef>
                <a:spcPts val="0"/>
              </a:spcBef>
              <a:spcAft>
                <a:spcPts val="0"/>
              </a:spcAft>
              <a:buNone/>
            </a:pPr>
            <a:r>
              <a:rPr lang="en-GB" sz="1100" b="1" spc="200" dirty="0">
                <a:solidFill>
                  <a:srgbClr val="9AA5B8"/>
                </a:solidFill>
                <a:latin typeface="Calibri"/>
                <a:cs typeface="Calibri"/>
              </a:rPr>
              <a:t>AFTER THE CHANGE</a:t>
            </a:r>
            <a:endParaRPr lang="en-GB" sz="1100" dirty="0"/>
          </a:p>
        </p:txBody>
      </p:sp>
      <p:sp>
        <p:nvSpPr>
          <p:cNvPr id="4" name="Text 4"/>
          <p:cNvSpPr txBox="1"/>
          <p:nvPr/>
        </p:nvSpPr>
        <p:spPr>
          <a:xfrm>
            <a:off x="822960" y="1005840"/>
            <a:ext cx="10545775" cy="914400"/>
          </a:xfrm>
          <a:prstGeom prst="rect">
            <a:avLst/>
          </a:prstGeom>
          <a:noFill/>
          <a:ln>
            <a:noFill/>
          </a:ln>
        </p:spPr>
        <p:txBody>
          <a:bodyPr wrap="square" lIns="0" tIns="0" rIns="0" bIns="0" anchor="t" rtlCol="0">
            <a:noAutofit/>
          </a:bodyPr>
          <a:lstStyle/>
          <a:p>
            <a:pPr algn="l" marL="0" indent="0">
              <a:lnSpc>
                <a:spcPct val="100000"/>
              </a:lnSpc>
              <a:spcBef>
                <a:spcPts val="0"/>
              </a:spcBef>
              <a:spcAft>
                <a:spcPts val="0"/>
              </a:spcAft>
              <a:buNone/>
            </a:pPr>
            <a:r>
              <a:rPr lang="en-GB" sz="3400" b="0" dirty="0">
                <a:solidFill>
                  <a:srgbClr val="FFFFFF"/>
                </a:solidFill>
                <a:latin typeface="Georgia"/>
                <a:cs typeface="Georgia"/>
              </a:rPr>
              <a:t>Up 35 points, now above target</a:t>
            </a:r>
            <a:endParaRPr lang="en-GB" sz="3400" dirty="0"/>
          </a:p>
        </p:txBody>
      </p:sp>
      <p:sp>
        <p:nvSpPr>
          <p:cNvPr id="5" name="Text 5"/>
          <p:cNvSpPr txBox="1"/>
          <p:nvPr/>
        </p:nvSpPr>
        <p:spPr>
          <a:xfrm>
            <a:off x="768096" y="2514600"/>
            <a:ext cx="3291840" cy="1828800"/>
          </a:xfrm>
          <a:prstGeom prst="rect">
            <a:avLst/>
          </a:prstGeom>
          <a:noFill/>
          <a:ln>
            <a:noFill/>
          </a:ln>
        </p:spPr>
        <p:txBody>
          <a:bodyPr wrap="square" lIns="0" tIns="0" rIns="0" bIns="0" anchor="ctr" rtlCol="0">
            <a:noAutofit/>
          </a:bodyPr>
          <a:lstStyle/>
          <a:p>
            <a:pPr algn="l" marL="0" indent="0">
              <a:lnSpc>
                <a:spcPct val="100000"/>
              </a:lnSpc>
              <a:spcBef>
                <a:spcPts val="0"/>
              </a:spcBef>
              <a:spcAft>
                <a:spcPts val="0"/>
              </a:spcAft>
              <a:buNone/>
            </a:pPr>
            <a:r>
              <a:rPr lang="en-GB" sz="11000" b="0" dirty="0">
                <a:solidFill>
                  <a:srgbClr val="9AA5B8"/>
                </a:solidFill>
                <a:latin typeface="Georgia"/>
                <a:cs typeface="Georgia"/>
              </a:rPr>
              <a:t>58%</a:t>
            </a:r>
            <a:endParaRPr lang="en-GB" sz="11000" dirty="0"/>
          </a:p>
        </p:txBody>
      </p:sp>
      <p:sp>
        <p:nvSpPr>
          <p:cNvPr id="6" name="Text 6"/>
          <p:cNvSpPr txBox="1"/>
          <p:nvPr/>
        </p:nvSpPr>
        <p:spPr>
          <a:xfrm>
            <a:off x="822960" y="4389120"/>
            <a:ext cx="3291840" cy="320040"/>
          </a:xfrm>
          <a:prstGeom prst="rect">
            <a:avLst/>
          </a:prstGeom>
          <a:noFill/>
          <a:ln>
            <a:noFill/>
          </a:ln>
        </p:spPr>
        <p:txBody>
          <a:bodyPr wrap="square" lIns="0" tIns="0" rIns="0" bIns="0" anchor="t" rtlCol="0">
            <a:noAutofit/>
          </a:bodyPr>
          <a:lstStyle/>
          <a:p>
            <a:pPr algn="l" marL="0" indent="0">
              <a:lnSpc>
                <a:spcPct val="100000"/>
              </a:lnSpc>
              <a:spcBef>
                <a:spcPts val="0"/>
              </a:spcBef>
              <a:spcAft>
                <a:spcPts val="0"/>
              </a:spcAft>
              <a:buNone/>
            </a:pPr>
            <a:r>
              <a:rPr lang="en-GB" sz="1300" b="0" dirty="0">
                <a:solidFill>
                  <a:srgbClr val="9AA5B8"/>
                </a:solidFill>
                <a:latin typeface="Calibri"/>
                <a:cs typeface="Calibri"/>
              </a:rPr>
              <a:t>Cycle 1  ·  23 of 40</a:t>
            </a:r>
            <a:endParaRPr lang="en-GB" sz="1300" dirty="0"/>
          </a:p>
        </p:txBody>
      </p:sp>
      <p:cxnSp>
        <p:nvCxnSpPr>
          <p:cNvPr id="7" name="Line 7"/>
          <p:cNvCxnSpPr/>
          <p:nvPr/>
        </p:nvCxnSpPr>
        <p:spPr>
          <a:xfrm flipV="1">
            <a:off x="4206240" y="3172968"/>
            <a:ext cx="2971800" cy="512064"/>
          </a:xfrm>
          <a:prstGeom prst="line">
            <a:avLst/>
          </a:prstGeom>
          <a:ln w="19050" cap="rnd">
            <a:solidFill>
              <a:srgbClr val="B8924A"/>
            </a:solidFill>
          </a:ln>
        </p:spPr>
      </p:cxnSp>
      <p:sp>
        <p:nvSpPr>
          <p:cNvPr id="8" name="Shape 8"/>
          <p:cNvSpPr/>
          <p:nvPr/>
        </p:nvSpPr>
        <p:spPr>
          <a:xfrm>
            <a:off x="4142232" y="3621024"/>
            <a:ext cx="128016" cy="128016"/>
          </a:xfrm>
          <a:prstGeom prst="ellipse">
            <a:avLst/>
          </a:prstGeom>
          <a:solidFill>
            <a:srgbClr val="9AA5B8"/>
          </a:solidFill>
          <a:ln>
            <a:noFill/>
          </a:ln>
        </p:spPr>
        <p:txBody>
          <a:bodyPr rtlCol="0" anchor="ctr"/>
          <a:lstStyle/>
          <a:p>
            <a:endParaRPr lang="en-GB" dirty="0"/>
          </a:p>
        </p:txBody>
      </p:sp>
      <p:sp>
        <p:nvSpPr>
          <p:cNvPr id="9" name="Shape 9"/>
          <p:cNvSpPr/>
          <p:nvPr/>
        </p:nvSpPr>
        <p:spPr>
          <a:xfrm>
            <a:off x="7114032" y="3108960"/>
            <a:ext cx="128016" cy="128016"/>
          </a:xfrm>
          <a:prstGeom prst="ellipse">
            <a:avLst/>
          </a:prstGeom>
          <a:solidFill>
            <a:srgbClr val="B8924A"/>
          </a:solidFill>
          <a:ln>
            <a:noFill/>
          </a:ln>
        </p:spPr>
        <p:txBody>
          <a:bodyPr rtlCol="0" anchor="ctr"/>
          <a:lstStyle/>
          <a:p>
            <a:endParaRPr lang="en-GB" dirty="0"/>
          </a:p>
        </p:txBody>
      </p:sp>
      <p:sp>
        <p:nvSpPr>
          <p:cNvPr id="10" name="Text 10"/>
          <p:cNvSpPr txBox="1"/>
          <p:nvPr/>
        </p:nvSpPr>
        <p:spPr>
          <a:xfrm>
            <a:off x="4777740" y="2670048"/>
            <a:ext cx="1828800" cy="365760"/>
          </a:xfrm>
          <a:prstGeom prst="rect">
            <a:avLst/>
          </a:prstGeom>
          <a:noFill/>
          <a:ln>
            <a:noFill/>
          </a:ln>
        </p:spPr>
        <p:txBody>
          <a:bodyPr wrap="square" lIns="0" tIns="0" rIns="0" bIns="0" anchor="t" rtlCol="0">
            <a:noAutofit/>
          </a:bodyPr>
          <a:lstStyle/>
          <a:p>
            <a:pPr algn="ctr" marL="0" indent="0">
              <a:lnSpc>
                <a:spcPct val="100000"/>
              </a:lnSpc>
              <a:spcBef>
                <a:spcPts val="0"/>
              </a:spcBef>
              <a:spcAft>
                <a:spcPts val="0"/>
              </a:spcAft>
              <a:buNone/>
            </a:pPr>
            <a:r>
              <a:rPr lang="en-GB" sz="1600" b="1" dirty="0">
                <a:solidFill>
                  <a:srgbClr val="B8924A"/>
                </a:solidFill>
                <a:latin typeface="Calibri"/>
                <a:cs typeface="Calibri"/>
              </a:rPr>
              <a:t>+35 pts</a:t>
            </a:r>
            <a:endParaRPr lang="en-GB" sz="1600" dirty="0"/>
          </a:p>
        </p:txBody>
      </p:sp>
      <p:sp>
        <p:nvSpPr>
          <p:cNvPr id="11" name="Text 11"/>
          <p:cNvSpPr txBox="1"/>
          <p:nvPr/>
        </p:nvSpPr>
        <p:spPr>
          <a:xfrm>
            <a:off x="7443216" y="2514600"/>
            <a:ext cx="3291840" cy="1828800"/>
          </a:xfrm>
          <a:prstGeom prst="rect">
            <a:avLst/>
          </a:prstGeom>
          <a:noFill/>
          <a:ln>
            <a:noFill/>
          </a:ln>
        </p:spPr>
        <p:txBody>
          <a:bodyPr wrap="square" lIns="0" tIns="0" rIns="0" bIns="0" anchor="ctr" rtlCol="0">
            <a:noAutofit/>
          </a:bodyPr>
          <a:lstStyle/>
          <a:p>
            <a:pPr algn="l" marL="0" indent="0">
              <a:lnSpc>
                <a:spcPct val="100000"/>
              </a:lnSpc>
              <a:spcBef>
                <a:spcPts val="0"/>
              </a:spcBef>
              <a:spcAft>
                <a:spcPts val="0"/>
              </a:spcAft>
              <a:buNone/>
            </a:pPr>
            <a:r>
              <a:rPr lang="en-GB" sz="11000" b="0" dirty="0">
                <a:solidFill>
                  <a:srgbClr val="B8924A"/>
                </a:solidFill>
                <a:latin typeface="Georgia"/>
                <a:cs typeface="Georgia"/>
              </a:rPr>
              <a:t>93%</a:t>
            </a:r>
            <a:endParaRPr lang="en-GB" sz="11000" dirty="0"/>
          </a:p>
        </p:txBody>
      </p:sp>
      <p:sp>
        <p:nvSpPr>
          <p:cNvPr id="12" name="Text 12"/>
          <p:cNvSpPr txBox="1"/>
          <p:nvPr/>
        </p:nvSpPr>
        <p:spPr>
          <a:xfrm>
            <a:off x="7498080" y="4389120"/>
            <a:ext cx="3291840" cy="320040"/>
          </a:xfrm>
          <a:prstGeom prst="rect">
            <a:avLst/>
          </a:prstGeom>
          <a:noFill/>
          <a:ln>
            <a:noFill/>
          </a:ln>
        </p:spPr>
        <p:txBody>
          <a:bodyPr wrap="square" lIns="0" tIns="0" rIns="0" bIns="0" anchor="t" rtlCol="0">
            <a:noAutofit/>
          </a:bodyPr>
          <a:lstStyle/>
          <a:p>
            <a:pPr algn="l" marL="0" indent="0">
              <a:lnSpc>
                <a:spcPct val="100000"/>
              </a:lnSpc>
              <a:spcBef>
                <a:spcPts val="0"/>
              </a:spcBef>
              <a:spcAft>
                <a:spcPts val="0"/>
              </a:spcAft>
              <a:buNone/>
            </a:pPr>
            <a:r>
              <a:rPr lang="en-GB" sz="1300" b="0" dirty="0">
                <a:solidFill>
                  <a:srgbClr val="9AA5B8"/>
                </a:solidFill>
                <a:latin typeface="Calibri"/>
                <a:cs typeface="Calibri"/>
              </a:rPr>
              <a:t>Re-audit  ·  37 of 40</a:t>
            </a:r>
            <a:endParaRPr lang="en-GB" sz="1300" dirty="0"/>
          </a:p>
        </p:txBody>
      </p:sp>
      <p:sp>
        <p:nvSpPr>
          <p:cNvPr id="13" name="Text 13"/>
          <p:cNvSpPr txBox="1"/>
          <p:nvPr/>
        </p:nvSpPr>
        <p:spPr>
          <a:xfrm>
            <a:off x="822960" y="5897880"/>
            <a:ext cx="3657600" cy="274320"/>
          </a:xfrm>
          <a:prstGeom prst="rect">
            <a:avLst/>
          </a:prstGeom>
          <a:noFill/>
          <a:ln>
            <a:noFill/>
          </a:ln>
        </p:spPr>
        <p:txBody>
          <a:bodyPr wrap="square" lIns="0" tIns="0" rIns="0" bIns="0" anchor="t" rtlCol="0">
            <a:noAutofit/>
          </a:bodyPr>
          <a:lstStyle/>
          <a:p>
            <a:pPr algn="l" marL="0" indent="0">
              <a:lnSpc>
                <a:spcPct val="100000"/>
              </a:lnSpc>
              <a:spcBef>
                <a:spcPts val="0"/>
              </a:spcBef>
              <a:spcAft>
                <a:spcPts val="0"/>
              </a:spcAft>
              <a:buNone/>
            </a:pPr>
            <a:r>
              <a:rPr lang="en-GB" sz="1200" b="0" dirty="0">
                <a:solidFill>
                  <a:srgbClr val="9AA5B8"/>
                </a:solidFill>
                <a:latin typeface="Calibri"/>
                <a:cs typeface="Calibri"/>
              </a:rPr>
              <a:t>Target 90%</a:t>
            </a:r>
            <a:endParaRPr lang="en-GB"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10637215" y="6291072"/>
            <a:ext cx="731520" cy="274320"/>
          </a:xfrm>
          <a:prstGeom prst="rect">
            <a:avLst/>
          </a:prstGeom>
          <a:noFill/>
          <a:ln>
            <a:noFill/>
          </a:ln>
        </p:spPr>
        <p:txBody>
          <a:bodyPr wrap="square" lIns="0" tIns="0" rIns="0" bIns="0" anchor="b" rtlCol="0">
            <a:noAutofit/>
          </a:bodyPr>
          <a:lstStyle/>
          <a:p>
            <a:pPr algn="r" marL="0" indent="0">
              <a:lnSpc>
                <a:spcPct val="100000"/>
              </a:lnSpc>
              <a:spcBef>
                <a:spcPts val="0"/>
              </a:spcBef>
              <a:spcAft>
                <a:spcPts val="0"/>
              </a:spcAft>
              <a:buNone/>
            </a:pPr>
            <a:r>
              <a:rPr lang="en-GB" sz="1000" b="0" dirty="0">
                <a:solidFill>
                  <a:srgbClr val="9AA5B8"/>
                </a:solidFill>
                <a:latin typeface="Calibri"/>
                <a:cs typeface="Calibri"/>
              </a:rPr>
              <a:t>9</a:t>
            </a:r>
            <a:endParaRPr lang="en-GB" sz="1000" dirty="0"/>
          </a:p>
        </p:txBody>
      </p:sp>
      <p:sp>
        <p:nvSpPr>
          <p:cNvPr id="3" name="Text 3"/>
          <p:cNvSpPr txBox="1"/>
          <p:nvPr/>
        </p:nvSpPr>
        <p:spPr>
          <a:xfrm>
            <a:off x="822960" y="640080"/>
            <a:ext cx="10545775" cy="914400"/>
          </a:xfrm>
          <a:prstGeom prst="rect">
            <a:avLst/>
          </a:prstGeom>
          <a:noFill/>
          <a:ln>
            <a:noFill/>
          </a:ln>
        </p:spPr>
        <p:txBody>
          <a:bodyPr wrap="square" lIns="0" tIns="0" rIns="0" bIns="0" anchor="t" rtlCol="0">
            <a:noAutofit/>
          </a:bodyPr>
          <a:lstStyle/>
          <a:p>
            <a:pPr algn="l" marL="0" indent="0">
              <a:lnSpc>
                <a:spcPct val="95000"/>
              </a:lnSpc>
              <a:spcBef>
                <a:spcPts val="0"/>
              </a:spcBef>
              <a:spcAft>
                <a:spcPts val="0"/>
              </a:spcAft>
              <a:buNone/>
            </a:pPr>
            <a:r>
              <a:rPr lang="en-GB" sz="3200" b="0" dirty="0">
                <a:solidFill>
                  <a:srgbClr val="0B1F3A"/>
                </a:solidFill>
                <a:latin typeface="Georgia"/>
                <a:cs typeface="Georgia"/>
              </a:rPr>
              <a:t>What next</a:t>
            </a:r>
            <a:endParaRPr lang="en-GB" sz="3200" dirty="0"/>
          </a:p>
        </p:txBody>
      </p:sp>
      <p:sp>
        <p:nvSpPr>
          <p:cNvPr id="4" name="Text 4"/>
          <p:cNvSpPr txBox="1"/>
          <p:nvPr/>
        </p:nvSpPr>
        <p:spPr>
          <a:xfrm>
            <a:off x="822960" y="1810512"/>
            <a:ext cx="640080" cy="731520"/>
          </a:xfrm>
          <a:prstGeom prst="rect">
            <a:avLst/>
          </a:prstGeom>
          <a:noFill/>
          <a:ln>
            <a:noFill/>
          </a:ln>
        </p:spPr>
        <p:txBody>
          <a:bodyPr wrap="square" lIns="0" tIns="0" rIns="0" bIns="0" anchor="t" rtlCol="0">
            <a:noAutofit/>
          </a:bodyPr>
          <a:lstStyle/>
          <a:p>
            <a:pPr algn="l" marL="0" indent="0">
              <a:lnSpc>
                <a:spcPct val="100000"/>
              </a:lnSpc>
              <a:spcBef>
                <a:spcPts val="0"/>
              </a:spcBef>
              <a:spcAft>
                <a:spcPts val="0"/>
              </a:spcAft>
              <a:buNone/>
            </a:pPr>
            <a:r>
              <a:rPr lang="en-GB" sz="4200" b="0" dirty="0">
                <a:solidFill>
                  <a:srgbClr val="B8924A"/>
                </a:solidFill>
                <a:latin typeface="Georgia"/>
                <a:cs typeface="Georgia"/>
              </a:rPr>
              <a:t>1</a:t>
            </a:r>
            <a:endParaRPr lang="en-GB" sz="4200" dirty="0"/>
          </a:p>
        </p:txBody>
      </p:sp>
      <p:sp>
        <p:nvSpPr>
          <p:cNvPr id="5" name="Text 5"/>
          <p:cNvSpPr txBox="1"/>
          <p:nvPr/>
        </p:nvSpPr>
        <p:spPr>
          <a:xfrm>
            <a:off x="1645920" y="1920240"/>
            <a:ext cx="9692640" cy="731520"/>
          </a:xfrm>
          <a:prstGeom prst="rect">
            <a:avLst/>
          </a:prstGeom>
          <a:noFill/>
          <a:ln>
            <a:noFill/>
          </a:ln>
        </p:spPr>
        <p:txBody>
          <a:bodyPr wrap="square" lIns="0" tIns="0" rIns="0" bIns="0" anchor="t" rtlCol="0">
            <a:noAutofit/>
          </a:bodyPr>
          <a:lstStyle/>
          <a:p>
            <a:pPr algn="l" marL="0" indent="0">
              <a:lnSpc>
                <a:spcPct val="100000"/>
              </a:lnSpc>
              <a:spcBef>
                <a:spcPts val="0"/>
              </a:spcBef>
              <a:spcAft>
                <a:spcPts val="0"/>
              </a:spcAft>
              <a:buNone/>
            </a:pPr>
            <a:r>
              <a:rPr lang="en-GB" sz="2200" b="0" dirty="0">
                <a:solidFill>
                  <a:srgbClr val="0B1F3A"/>
                </a:solidFill>
                <a:latin typeface="Calibri"/>
                <a:cs typeface="Calibri"/>
              </a:rPr>
              <a:t>Target reached — keep the change in place</a:t>
            </a:r>
            <a:endParaRPr lang="en-GB" sz="2200" dirty="0"/>
          </a:p>
        </p:txBody>
      </p:sp>
      <p:sp>
        <p:nvSpPr>
          <p:cNvPr id="6" name="Text 6"/>
          <p:cNvSpPr txBox="1"/>
          <p:nvPr/>
        </p:nvSpPr>
        <p:spPr>
          <a:xfrm>
            <a:off x="822960" y="3044952"/>
            <a:ext cx="640080" cy="731520"/>
          </a:xfrm>
          <a:prstGeom prst="rect">
            <a:avLst/>
          </a:prstGeom>
          <a:noFill/>
          <a:ln>
            <a:noFill/>
          </a:ln>
        </p:spPr>
        <p:txBody>
          <a:bodyPr wrap="square" lIns="0" tIns="0" rIns="0" bIns="0" anchor="t" rtlCol="0">
            <a:noAutofit/>
          </a:bodyPr>
          <a:lstStyle/>
          <a:p>
            <a:pPr algn="l" marL="0" indent="0">
              <a:lnSpc>
                <a:spcPct val="100000"/>
              </a:lnSpc>
              <a:spcBef>
                <a:spcPts val="0"/>
              </a:spcBef>
              <a:spcAft>
                <a:spcPts val="0"/>
              </a:spcAft>
              <a:buNone/>
            </a:pPr>
            <a:r>
              <a:rPr lang="en-GB" sz="4200" b="0" dirty="0">
                <a:solidFill>
                  <a:srgbClr val="B8924A"/>
                </a:solidFill>
                <a:latin typeface="Georgia"/>
                <a:cs typeface="Georgia"/>
              </a:rPr>
              <a:t>2</a:t>
            </a:r>
            <a:endParaRPr lang="en-GB" sz="4200" dirty="0"/>
          </a:p>
        </p:txBody>
      </p:sp>
      <p:sp>
        <p:nvSpPr>
          <p:cNvPr id="7" name="Text 7"/>
          <p:cNvSpPr txBox="1"/>
          <p:nvPr/>
        </p:nvSpPr>
        <p:spPr>
          <a:xfrm>
            <a:off x="1645920" y="3154680"/>
            <a:ext cx="9692640" cy="731520"/>
          </a:xfrm>
          <a:prstGeom prst="rect">
            <a:avLst/>
          </a:prstGeom>
          <a:noFill/>
          <a:ln>
            <a:noFill/>
          </a:ln>
        </p:spPr>
        <p:txBody>
          <a:bodyPr wrap="square" lIns="0" tIns="0" rIns="0" bIns="0" anchor="t" rtlCol="0">
            <a:noAutofit/>
          </a:bodyPr>
          <a:lstStyle/>
          <a:p>
            <a:pPr algn="l" marL="0" indent="0">
              <a:lnSpc>
                <a:spcPct val="100000"/>
              </a:lnSpc>
              <a:spcBef>
                <a:spcPts val="0"/>
              </a:spcBef>
              <a:spcAft>
                <a:spcPts val="0"/>
              </a:spcAft>
              <a:buNone/>
            </a:pPr>
            <a:r>
              <a:rPr lang="en-GB" sz="2200" b="0" dirty="0">
                <a:solidFill>
                  <a:srgbClr val="0B1F3A"/>
                </a:solidFill>
                <a:latin typeface="Calibri"/>
                <a:cs typeface="Calibri"/>
              </a:rPr>
              <a:t>Commonest cause in cycle 1: not recognised as sepsis (8)</a:t>
            </a:r>
            <a:endParaRPr lang="en-GB" sz="2200" dirty="0"/>
          </a:p>
        </p:txBody>
      </p:sp>
      <p:sp>
        <p:nvSpPr>
          <p:cNvPr id="8" name="Text 8"/>
          <p:cNvSpPr txBox="1"/>
          <p:nvPr/>
        </p:nvSpPr>
        <p:spPr>
          <a:xfrm>
            <a:off x="822960" y="4279392"/>
            <a:ext cx="640080" cy="731520"/>
          </a:xfrm>
          <a:prstGeom prst="rect">
            <a:avLst/>
          </a:prstGeom>
          <a:noFill/>
          <a:ln>
            <a:noFill/>
          </a:ln>
        </p:spPr>
        <p:txBody>
          <a:bodyPr wrap="square" lIns="0" tIns="0" rIns="0" bIns="0" anchor="t" rtlCol="0">
            <a:noAutofit/>
          </a:bodyPr>
          <a:lstStyle/>
          <a:p>
            <a:pPr algn="l" marL="0" indent="0">
              <a:lnSpc>
                <a:spcPct val="100000"/>
              </a:lnSpc>
              <a:spcBef>
                <a:spcPts val="0"/>
              </a:spcBef>
              <a:spcAft>
                <a:spcPts val="0"/>
              </a:spcAft>
              <a:buNone/>
            </a:pPr>
            <a:r>
              <a:rPr lang="en-GB" sz="4200" b="0" dirty="0">
                <a:solidFill>
                  <a:srgbClr val="B8924A"/>
                </a:solidFill>
                <a:latin typeface="Georgia"/>
                <a:cs typeface="Georgia"/>
              </a:rPr>
              <a:t>3</a:t>
            </a:r>
            <a:endParaRPr lang="en-GB" sz="4200" dirty="0"/>
          </a:p>
        </p:txBody>
      </p:sp>
      <p:sp>
        <p:nvSpPr>
          <p:cNvPr id="9" name="Text 9"/>
          <p:cNvSpPr txBox="1"/>
          <p:nvPr/>
        </p:nvSpPr>
        <p:spPr>
          <a:xfrm>
            <a:off x="1645920" y="4389120"/>
            <a:ext cx="9692640" cy="731520"/>
          </a:xfrm>
          <a:prstGeom prst="rect">
            <a:avLst/>
          </a:prstGeom>
          <a:noFill/>
          <a:ln>
            <a:noFill/>
          </a:ln>
        </p:spPr>
        <p:txBody>
          <a:bodyPr wrap="square" lIns="0" tIns="0" rIns="0" bIns="0" anchor="t" rtlCol="0">
            <a:noAutofit/>
          </a:bodyPr>
          <a:lstStyle/>
          <a:p>
            <a:pPr algn="l" marL="0" indent="0">
              <a:lnSpc>
                <a:spcPct val="100000"/>
              </a:lnSpc>
              <a:spcBef>
                <a:spcPts val="0"/>
              </a:spcBef>
              <a:spcAft>
                <a:spcPts val="0"/>
              </a:spcAft>
              <a:buNone/>
            </a:pPr>
            <a:r>
              <a:rPr lang="en-GB" sz="2200" b="0" dirty="0">
                <a:solidFill>
                  <a:srgbClr val="0B1F3A"/>
                </a:solidFill>
                <a:latin typeface="Calibri"/>
                <a:cs typeface="Calibri"/>
              </a:rPr>
              <a:t>Present at ED governance and the Trust deteriorating patient group</a:t>
            </a:r>
            <a:endParaRPr lang="en-GB" sz="2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10637215" y="6291072"/>
            <a:ext cx="731520" cy="274320"/>
          </a:xfrm>
          <a:prstGeom prst="rect">
            <a:avLst/>
          </a:prstGeom>
          <a:noFill/>
          <a:ln>
            <a:noFill/>
          </a:ln>
        </p:spPr>
        <p:txBody>
          <a:bodyPr wrap="square" lIns="0" tIns="0" rIns="0" bIns="0" anchor="b" rtlCol="0">
            <a:noAutofit/>
          </a:bodyPr>
          <a:lstStyle/>
          <a:p>
            <a:pPr algn="r" marL="0" indent="0">
              <a:lnSpc>
                <a:spcPct val="100000"/>
              </a:lnSpc>
              <a:spcBef>
                <a:spcPts val="0"/>
              </a:spcBef>
              <a:spcAft>
                <a:spcPts val="0"/>
              </a:spcAft>
              <a:buNone/>
            </a:pPr>
            <a:r>
              <a:rPr lang="en-GB" sz="1000" b="0" dirty="0">
                <a:solidFill>
                  <a:srgbClr val="9AA5B8"/>
                </a:solidFill>
                <a:latin typeface="Calibri"/>
                <a:cs typeface="Calibri"/>
              </a:rPr>
              <a:t>10</a:t>
            </a:r>
            <a:endParaRPr lang="en-GB" sz="1000" dirty="0"/>
          </a:p>
        </p:txBody>
      </p:sp>
      <p:sp>
        <p:nvSpPr>
          <p:cNvPr id="3" name="Text 3"/>
          <p:cNvSpPr txBox="1"/>
          <p:nvPr/>
        </p:nvSpPr>
        <p:spPr>
          <a:xfrm>
            <a:off x="822960" y="640080"/>
            <a:ext cx="7315200" cy="640080"/>
          </a:xfrm>
          <a:prstGeom prst="rect">
            <a:avLst/>
          </a:prstGeom>
          <a:noFill/>
          <a:ln>
            <a:noFill/>
          </a:ln>
        </p:spPr>
        <p:txBody>
          <a:bodyPr wrap="square" lIns="0" tIns="0" rIns="0" bIns="0" anchor="t" rtlCol="0">
            <a:noAutofit/>
          </a:bodyPr>
          <a:lstStyle/>
          <a:p>
            <a:pPr algn="l" marL="0" indent="0">
              <a:lnSpc>
                <a:spcPct val="100000"/>
              </a:lnSpc>
              <a:spcBef>
                <a:spcPts val="0"/>
              </a:spcBef>
              <a:spcAft>
                <a:spcPts val="0"/>
              </a:spcAft>
              <a:buNone/>
            </a:pPr>
            <a:r>
              <a:rPr lang="en-GB" sz="2400" b="0" dirty="0">
                <a:solidFill>
                  <a:srgbClr val="0B1F3A"/>
                </a:solidFill>
                <a:latin typeface="Georgia"/>
                <a:cs typeface="Georgia"/>
              </a:rPr>
              <a:t>References</a:t>
            </a:r>
            <a:endParaRPr lang="en-GB" sz="2400" dirty="0"/>
          </a:p>
        </p:txBody>
      </p:sp>
      <p:sp>
        <p:nvSpPr>
          <p:cNvPr id="4" name="Text 4"/>
          <p:cNvSpPr txBox="1"/>
          <p:nvPr/>
        </p:nvSpPr>
        <p:spPr>
          <a:xfrm>
            <a:off x="822960" y="1554480"/>
            <a:ext cx="4998568" cy="4114800"/>
          </a:xfrm>
          <a:prstGeom prst="rect">
            <a:avLst/>
          </a:prstGeom>
          <a:noFill/>
          <a:ln>
            <a:noFill/>
          </a:ln>
        </p:spPr>
        <p:txBody>
          <a:bodyPr wrap="square" lIns="0" tIns="0" rIns="0" bIns="0" anchor="t" rtlCol="0">
            <a:noAutofit/>
          </a:bodyPr>
          <a:lstStyle/>
          <a:p>
            <a:pPr algn="l" marL="0" indent="0">
              <a:lnSpc>
                <a:spcPct val="105000"/>
              </a:lnSpc>
              <a:spcBef>
                <a:spcPts val="0"/>
              </a:spcBef>
              <a:spcAft>
                <a:spcPts val="960"/>
              </a:spcAft>
              <a:buNone/>
            </a:pPr>
            <a:r>
              <a:rPr lang="en-GB" sz="1200" b="0" dirty="0">
                <a:solidFill>
                  <a:srgbClr val="44506A"/>
                </a:solidFill>
                <a:latin typeface="Calibri"/>
                <a:cs typeface="Calibri"/>
              </a:rPr>
              <a:t>Standard: NICE NG253 rec 1.8.3 (November 2025, updated September 2026). https://www.nice.org.uk/guidance/ng253/chapter/Managing-suspected-sepsis</a:t>
            </a:r>
            <a:endParaRPr lang="en-GB" sz="1200" dirty="0"/>
          </a:p>
          <a:p>
            <a:pPr algn="l" marL="0" indent="0">
              <a:lnSpc>
                <a:spcPct val="105000"/>
              </a:lnSpc>
              <a:spcBef>
                <a:spcPts val="0"/>
              </a:spcBef>
              <a:spcAft>
                <a:spcPts val="960"/>
              </a:spcAft>
              <a:buNone/>
            </a:pPr>
            <a:r>
              <a:rPr lang="en-GB" sz="1200" b="0" dirty="0">
                <a:solidFill>
                  <a:srgbClr val="44506A"/>
                </a:solidFill>
                <a:latin typeface="Calibri"/>
                <a:cs typeface="Calibri"/>
              </a:rPr>
              <a:t>[3007] paediatric severe sepsis: antibiotics within 1 hour 42% at baseline (no standard met)</a:t>
            </a:r>
            <a:endParaRPr lang="en-GB" sz="1200" dirty="0"/>
          </a:p>
        </p:txBody>
      </p:sp>
      <p:sp>
        <p:nvSpPr>
          <p:cNvPr id="5" name="Text 5"/>
          <p:cNvSpPr txBox="1"/>
          <p:nvPr/>
        </p:nvSpPr>
        <p:spPr>
          <a:xfrm>
            <a:off x="6370168" y="1554480"/>
            <a:ext cx="4998568" cy="4114800"/>
          </a:xfrm>
          <a:prstGeom prst="rect">
            <a:avLst/>
          </a:prstGeom>
          <a:noFill/>
          <a:ln>
            <a:noFill/>
          </a:ln>
        </p:spPr>
        <p:txBody>
          <a:bodyPr wrap="square" lIns="0" tIns="0" rIns="0" bIns="0" anchor="t" rtlCol="0">
            <a:noAutofit/>
          </a:bodyPr>
          <a:lstStyle/>
          <a:p>
            <a:pPr algn="l" marL="0" indent="0">
              <a:lnSpc>
                <a:spcPct val="105000"/>
              </a:lnSpc>
              <a:spcBef>
                <a:spcPts val="0"/>
              </a:spcBef>
              <a:spcAft>
                <a:spcPts val="960"/>
              </a:spcAft>
              <a:buNone/>
            </a:pPr>
            <a:r>
              <a:rPr lang="en-GB" sz="1200" b="0" dirty="0">
                <a:solidFill>
                  <a:srgbClr val="44506A"/>
                </a:solidFill>
                <a:latin typeface="Calibri"/>
                <a:cs typeface="Calibri"/>
              </a:rPr>
              <a:t>[1847] delirium: compulsory electronic screen raised completion 3% → 87% (system change beats teaching)</a:t>
            </a:r>
            <a:endParaRPr lang="en-GB" sz="1200" dirty="0"/>
          </a:p>
          <a:p>
            <a:pPr algn="l" marL="0" indent="0">
              <a:lnSpc>
                <a:spcPct val="105000"/>
              </a:lnSpc>
              <a:spcBef>
                <a:spcPts val="0"/>
              </a:spcBef>
              <a:spcAft>
                <a:spcPts val="960"/>
              </a:spcAft>
              <a:buNone/>
            </a:pPr>
            <a:r>
              <a:rPr lang="en-GB" sz="1200" b="0" dirty="0">
                <a:solidFill>
                  <a:srgbClr val="44506A"/>
                </a:solidFill>
                <a:latin typeface="Calibri"/>
                <a:cs typeface="Calibri"/>
              </a:rPr>
              <a:t>[1358] ED VTE assessment: electronic discharge prompt 32% → 93.1% (electronic prompt)</a:t>
            </a:r>
            <a:endParaRPr lang="en-GB" sz="1200" dirty="0"/>
          </a:p>
        </p:txBody>
      </p:sp>
      <p:sp>
        <p:nvSpPr>
          <p:cNvPr id="6" name="Text 6"/>
          <p:cNvSpPr txBox="1"/>
          <p:nvPr/>
        </p:nvSpPr>
        <p:spPr>
          <a:xfrm>
            <a:off x="822960" y="6291072"/>
            <a:ext cx="8229600" cy="274320"/>
          </a:xfrm>
          <a:prstGeom prst="rect">
            <a:avLst/>
          </a:prstGeom>
          <a:noFill/>
          <a:ln>
            <a:noFill/>
          </a:ln>
        </p:spPr>
        <p:txBody>
          <a:bodyPr wrap="square" lIns="0" tIns="0" rIns="0" bIns="0" anchor="b" rtlCol="0">
            <a:noAutofit/>
          </a:bodyPr>
          <a:lstStyle/>
          <a:p>
            <a:pPr algn="l" marL="0" indent="0">
              <a:lnSpc>
                <a:spcPct val="100000"/>
              </a:lnSpc>
              <a:spcBef>
                <a:spcPts val="0"/>
              </a:spcBef>
              <a:spcAft>
                <a:spcPts val="0"/>
              </a:spcAft>
              <a:buNone/>
            </a:pPr>
            <a:r>
              <a:rPr lang="en-GB" sz="1000" b="0" dirty="0">
                <a:solidFill>
                  <a:srgbClr val="9AA5B8"/>
                </a:solidFill>
                <a:latin typeface="Calibri"/>
                <a:cs typeface="Calibri"/>
              </a:rPr>
              <a:t>Prepared with Ai4Qi  ·  28 Sep 2026  ·  Figures are from local audit data.</a:t>
            </a:r>
            <a:endParaRPr lang="en-GB" sz="1000" dirty="0"/>
          </a:p>
        </p:txBody>
      </p:sp>
    </p:spTree>
  </p:cSld>
  <p:clrMapOvr>
    <a:masterClrMapping/>
  </p:clrMapOvr>
</p:sld>
</file>

<file path=ppt/theme/theme1.xml><?xml version="1.0" encoding="utf-8"?>
<a:theme xmlns:a="http://schemas.openxmlformats.org/drawingml/2006/main" name="Ai4Qi">
  <a:themeElements>
    <a:clrScheme name="Ai4Qi">
      <a:dk1>
        <a:srgbClr val="0B1F3A"/>
      </a:dk1>
      <a:lt1>
        <a:srgbClr val="FFFFFF"/>
      </a:lt1>
      <a:dk2>
        <a:srgbClr val="44506A"/>
      </a:dk2>
      <a:lt2>
        <a:srgbClr val="E4E6EB"/>
      </a:lt2>
      <a:accent1>
        <a:srgbClr val="B8924A"/>
      </a:accent1>
      <a:accent2>
        <a:srgbClr val="9AA5B8"/>
      </a:accent2>
      <a:accent3>
        <a:srgbClr val="0B1F3A"/>
      </a:accent3>
      <a:accent4>
        <a:srgbClr val="44506A"/>
      </a:accent4>
      <a:accent5>
        <a:srgbClr val="1E3556"/>
      </a:accent5>
      <a:accent6>
        <a:srgbClr val="2E7D5B"/>
      </a:accent6>
      <a:hlink>
        <a:srgbClr val="0B1F3A"/>
      </a:hlink>
      <a:folHlink>
        <a:srgbClr val="44506A"/>
      </a:folHlink>
    </a:clrScheme>
    <a:fontScheme name="Ai4Qi">
      <a:majorFont>
        <a:latin typeface="Georgia"/>
        <a:ea typeface=""/>
        <a:cs typeface=""/>
      </a:majorFont>
      <a:minorFont>
        <a:latin typeface="Calibri"/>
        <a:ea typeface=""/>
        <a:cs typeface=""/>
      </a:minorFont>
    </a:fontScheme>
    <a:fmtScheme name="Ai4Qi">
      <a:fillStyleLst>
        <a:solidFill>
          <a:schemeClr val="phClr"/>
        </a:solidFill>
        <a:solidFill>
          <a:schemeClr val="phClr"/>
        </a:solidFill>
        <a:solidFill>
          <a:schemeClr val="phClr"/>
        </a:solidFill>
      </a:fillStyleLst>
      <a:lnStyleLst>
        <a:ln w="6350">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Ai4Qi Notes">
  <a:themeElements>
    <a:clrScheme name="Ai4Qi">
      <a:dk1>
        <a:srgbClr val="0B1F3A"/>
      </a:dk1>
      <a:lt1>
        <a:srgbClr val="FFFFFF"/>
      </a:lt1>
      <a:dk2>
        <a:srgbClr val="44506A"/>
      </a:dk2>
      <a:lt2>
        <a:srgbClr val="E4E6EB"/>
      </a:lt2>
      <a:accent1>
        <a:srgbClr val="B8924A"/>
      </a:accent1>
      <a:accent2>
        <a:srgbClr val="9AA5B8"/>
      </a:accent2>
      <a:accent3>
        <a:srgbClr val="0B1F3A"/>
      </a:accent3>
      <a:accent4>
        <a:srgbClr val="44506A"/>
      </a:accent4>
      <a:accent5>
        <a:srgbClr val="1E3556"/>
      </a:accent5>
      <a:accent6>
        <a:srgbClr val="2E7D5B"/>
      </a:accent6>
      <a:hlink>
        <a:srgbClr val="0B1F3A"/>
      </a:hlink>
      <a:folHlink>
        <a:srgbClr val="44506A"/>
      </a:folHlink>
    </a:clrScheme>
    <a:fontScheme name="Ai4Qi">
      <a:majorFont>
        <a:latin typeface="Georgia"/>
        <a:ea typeface=""/>
        <a:cs typeface=""/>
      </a:majorFont>
      <a:minorFont>
        <a:latin typeface="Calibri"/>
        <a:ea typeface=""/>
        <a:cs typeface=""/>
      </a:minorFont>
    </a:fontScheme>
    <a:fmtScheme name="Ai4Qi">
      <a:fillStyleLst>
        <a:solidFill>
          <a:schemeClr val="phClr"/>
        </a:solidFill>
        <a:solidFill>
          <a:schemeClr val="phClr"/>
        </a:solidFill>
        <a:solidFill>
          <a:schemeClr val="phClr"/>
        </a:solidFill>
      </a:fillStyleLst>
      <a:lnStyleLst>
        <a:ln w="6350">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Ai4Qi</Application>
  <Slides>10</Slides>
  <Notes>10</Notes>
  <PresentationFormat>Widescreen</PresentationFormat>
  <Company>Ai4Qi</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proportion of adults at high risk from sepsis (NEWS2 7 or more with suspected infection) receive IV antibiotics within 1 hour of their first ED NEWS2 score?</dc:title>
  <dc:creator>Ai4Qi</dc:creator>
  <cp:lastModifiedBy>Ai4Qi</cp:lastModifiedBy>
  <dcterms:created xsi:type="dcterms:W3CDTF">2026-09-28T10:04:50Z</dcterms:created>
  <dcterms:modified xsi:type="dcterms:W3CDTF">2026-09-28T10:04:50Z</dcterms:modified>
</cp:coreProperties>
</file>